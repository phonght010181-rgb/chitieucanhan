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ptos Bold" panose="020B0604020202020204" charset="0"/>
      <p:regular r:id="rId22"/>
    </p:embeddedFont>
    <p:embeddedFont>
      <p:font typeface="Noto Sans" panose="020B0502040504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3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58699" y="679190"/>
            <a:ext cx="3445983" cy="3445983"/>
            <a:chOff x="0" y="0"/>
            <a:chExt cx="4594644" cy="45946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4606" cy="4594606"/>
            </a:xfrm>
            <a:custGeom>
              <a:avLst/>
              <a:gdLst/>
              <a:ahLst/>
              <a:cxnLst/>
              <a:rect l="l" t="t" r="r" b="b"/>
              <a:pathLst>
                <a:path w="4594606" h="4594606">
                  <a:moveTo>
                    <a:pt x="0" y="2297303"/>
                  </a:moveTo>
                  <a:cubicBezTo>
                    <a:pt x="0" y="1028573"/>
                    <a:pt x="1028573" y="0"/>
                    <a:pt x="2297303" y="0"/>
                  </a:cubicBezTo>
                  <a:cubicBezTo>
                    <a:pt x="3566033" y="0"/>
                    <a:pt x="4594606" y="1028573"/>
                    <a:pt x="4594606" y="2297303"/>
                  </a:cubicBezTo>
                  <a:cubicBezTo>
                    <a:pt x="4594606" y="3566033"/>
                    <a:pt x="3566033" y="4594606"/>
                    <a:pt x="2297303" y="4594606"/>
                  </a:cubicBezTo>
                  <a:cubicBezTo>
                    <a:pt x="1028573" y="4594606"/>
                    <a:pt x="0" y="3566033"/>
                    <a:pt x="0" y="2297303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405915" y="2875464"/>
            <a:ext cx="2210572" cy="2210572"/>
            <a:chOff x="0" y="0"/>
            <a:chExt cx="2947429" cy="29474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47416" cy="2947416"/>
            </a:xfrm>
            <a:custGeom>
              <a:avLst/>
              <a:gdLst/>
              <a:ahLst/>
              <a:cxnLst/>
              <a:rect l="l" t="t" r="r" b="b"/>
              <a:pathLst>
                <a:path w="2947416" h="2947416">
                  <a:moveTo>
                    <a:pt x="0" y="1473708"/>
                  </a:moveTo>
                  <a:cubicBezTo>
                    <a:pt x="0" y="659765"/>
                    <a:pt x="659765" y="0"/>
                    <a:pt x="1473708" y="0"/>
                  </a:cubicBezTo>
                  <a:cubicBezTo>
                    <a:pt x="2287651" y="0"/>
                    <a:pt x="2947416" y="659765"/>
                    <a:pt x="2947416" y="1473708"/>
                  </a:cubicBezTo>
                  <a:cubicBezTo>
                    <a:pt x="2947416" y="2287651"/>
                    <a:pt x="2287651" y="2947416"/>
                    <a:pt x="1473708" y="2947416"/>
                  </a:cubicBezTo>
                  <a:cubicBezTo>
                    <a:pt x="659765" y="2947416"/>
                    <a:pt x="0" y="2287651"/>
                    <a:pt x="0" y="1473708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72366" y="4659935"/>
            <a:ext cx="1524238" cy="1524238"/>
            <a:chOff x="0" y="0"/>
            <a:chExt cx="2032318" cy="20323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32254" cy="2032254"/>
            </a:xfrm>
            <a:custGeom>
              <a:avLst/>
              <a:gdLst/>
              <a:ahLst/>
              <a:cxnLst/>
              <a:rect l="l" t="t" r="r" b="b"/>
              <a:pathLst>
                <a:path w="2032254" h="2032254">
                  <a:moveTo>
                    <a:pt x="0" y="1016127"/>
                  </a:moveTo>
                  <a:cubicBezTo>
                    <a:pt x="0" y="454914"/>
                    <a:pt x="454914" y="0"/>
                    <a:pt x="1016127" y="0"/>
                  </a:cubicBezTo>
                  <a:cubicBezTo>
                    <a:pt x="1577340" y="0"/>
                    <a:pt x="2032254" y="454914"/>
                    <a:pt x="2032254" y="1016127"/>
                  </a:cubicBezTo>
                  <a:cubicBezTo>
                    <a:pt x="2032254" y="1577340"/>
                    <a:pt x="1577340" y="2032254"/>
                    <a:pt x="1016127" y="2032254"/>
                  </a:cubicBezTo>
                  <a:cubicBezTo>
                    <a:pt x="454914" y="2032254"/>
                    <a:pt x="0" y="1577340"/>
                    <a:pt x="0" y="1016127"/>
                  </a:cubicBezTo>
                  <a:close/>
                </a:path>
              </a:pathLst>
            </a:custGeom>
            <a:solidFill>
              <a:srgbClr val="194B82"/>
            </a:solidFill>
            <a:ln w="14299" cap="sq">
              <a:solidFill>
                <a:srgbClr val="194B8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641317" y="5620807"/>
            <a:ext cx="3034179" cy="3034179"/>
            <a:chOff x="0" y="0"/>
            <a:chExt cx="4045572" cy="40455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45585" cy="4045585"/>
            </a:xfrm>
            <a:custGeom>
              <a:avLst/>
              <a:gdLst/>
              <a:ahLst/>
              <a:cxnLst/>
              <a:rect l="l" t="t" r="r" b="b"/>
              <a:pathLst>
                <a:path w="4045585" h="4045585">
                  <a:moveTo>
                    <a:pt x="0" y="2022729"/>
                  </a:moveTo>
                  <a:cubicBezTo>
                    <a:pt x="0" y="905637"/>
                    <a:pt x="905637" y="0"/>
                    <a:pt x="2022729" y="0"/>
                  </a:cubicBezTo>
                  <a:cubicBezTo>
                    <a:pt x="3139821" y="0"/>
                    <a:pt x="4045585" y="905637"/>
                    <a:pt x="4045585" y="2022729"/>
                  </a:cubicBezTo>
                  <a:cubicBezTo>
                    <a:pt x="4045585" y="3139821"/>
                    <a:pt x="3139948" y="4045585"/>
                    <a:pt x="2022729" y="4045585"/>
                  </a:cubicBezTo>
                  <a:cubicBezTo>
                    <a:pt x="905510" y="4045585"/>
                    <a:pt x="0" y="3139948"/>
                    <a:pt x="0" y="2022729"/>
                  </a:cubicBezTo>
                  <a:close/>
                </a:path>
              </a:pathLst>
            </a:custGeom>
            <a:solidFill>
              <a:srgbClr val="143E6C"/>
            </a:solidFill>
            <a:ln w="14299" cap="sq">
              <a:solidFill>
                <a:srgbClr val="143E6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AutoShape 10"/>
          <p:cNvSpPr/>
          <p:nvPr/>
        </p:nvSpPr>
        <p:spPr>
          <a:xfrm rot="2983620">
            <a:off x="10536660" y="4863465"/>
            <a:ext cx="7066474" cy="0"/>
          </a:xfrm>
          <a:prstGeom prst="line">
            <a:avLst/>
          </a:prstGeom>
          <a:ln w="19050" cap="rnd">
            <a:solidFill>
              <a:srgbClr val="4173A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-2953980">
            <a:off x="10096024" y="4108494"/>
            <a:ext cx="6575050" cy="0"/>
          </a:xfrm>
          <a:prstGeom prst="line">
            <a:avLst/>
          </a:prstGeom>
          <a:ln w="19050" cap="rnd">
            <a:solidFill>
              <a:srgbClr val="4173A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2621435" y="3424533"/>
            <a:ext cx="3720513" cy="2347846"/>
            <a:chOff x="0" y="0"/>
            <a:chExt cx="4960684" cy="31304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60747" cy="3130423"/>
            </a:xfrm>
            <a:custGeom>
              <a:avLst/>
              <a:gdLst/>
              <a:ahLst/>
              <a:cxnLst/>
              <a:rect l="l" t="t" r="r" b="b"/>
              <a:pathLst>
                <a:path w="4960747" h="3130423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4585081" y="0"/>
                  </a:lnTo>
                  <a:cubicBezTo>
                    <a:pt x="4792599" y="0"/>
                    <a:pt x="4960747" y="168148"/>
                    <a:pt x="4960747" y="375666"/>
                  </a:cubicBezTo>
                  <a:lnTo>
                    <a:pt x="4960747" y="2754757"/>
                  </a:lnTo>
                  <a:cubicBezTo>
                    <a:pt x="4960747" y="2962275"/>
                    <a:pt x="4792599" y="3130423"/>
                    <a:pt x="4585081" y="3130423"/>
                  </a:cubicBezTo>
                  <a:lnTo>
                    <a:pt x="375666" y="3130423"/>
                  </a:lnTo>
                  <a:cubicBezTo>
                    <a:pt x="168148" y="3130423"/>
                    <a:pt x="0" y="2962275"/>
                    <a:pt x="0" y="275475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621435" y="3424533"/>
            <a:ext cx="3720513" cy="632003"/>
            <a:chOff x="0" y="0"/>
            <a:chExt cx="4960684" cy="8426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60620" cy="842645"/>
            </a:xfrm>
            <a:custGeom>
              <a:avLst/>
              <a:gdLst/>
              <a:ahLst/>
              <a:cxnLst/>
              <a:rect l="l" t="t" r="r" b="b"/>
              <a:pathLst>
                <a:path w="4960620" h="842645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4859528" y="0"/>
                  </a:lnTo>
                  <a:cubicBezTo>
                    <a:pt x="4915408" y="0"/>
                    <a:pt x="4960620" y="45212"/>
                    <a:pt x="4960620" y="101092"/>
                  </a:cubicBezTo>
                  <a:lnTo>
                    <a:pt x="4960620" y="741553"/>
                  </a:lnTo>
                  <a:cubicBezTo>
                    <a:pt x="4960620" y="797433"/>
                    <a:pt x="4915408" y="842645"/>
                    <a:pt x="4859528" y="842645"/>
                  </a:cubicBezTo>
                  <a:lnTo>
                    <a:pt x="101092" y="842645"/>
                  </a:lnTo>
                  <a:cubicBezTo>
                    <a:pt x="45212" y="842645"/>
                    <a:pt x="0" y="797433"/>
                    <a:pt x="0" y="741553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29513" y="4316768"/>
            <a:ext cx="494738" cy="494738"/>
            <a:chOff x="0" y="0"/>
            <a:chExt cx="659651" cy="6596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59638" cy="659638"/>
            </a:xfrm>
            <a:custGeom>
              <a:avLst/>
              <a:gdLst/>
              <a:ahLst/>
              <a:cxnLst/>
              <a:rect l="l" t="t" r="r" b="b"/>
              <a:pathLst>
                <a:path w="659638" h="659638">
                  <a:moveTo>
                    <a:pt x="0" y="329819"/>
                  </a:moveTo>
                  <a:cubicBezTo>
                    <a:pt x="0" y="147701"/>
                    <a:pt x="147701" y="0"/>
                    <a:pt x="329819" y="0"/>
                  </a:cubicBezTo>
                  <a:cubicBezTo>
                    <a:pt x="511937" y="0"/>
                    <a:pt x="659638" y="147701"/>
                    <a:pt x="659638" y="329819"/>
                  </a:cubicBezTo>
                  <a:cubicBezTo>
                    <a:pt x="659638" y="511937"/>
                    <a:pt x="511937" y="659638"/>
                    <a:pt x="329819" y="659638"/>
                  </a:cubicBezTo>
                  <a:cubicBezTo>
                    <a:pt x="147701" y="659638"/>
                    <a:pt x="0" y="511937"/>
                    <a:pt x="0" y="329819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39347" y="1489519"/>
            <a:ext cx="2287529" cy="2287529"/>
          </a:xfrm>
          <a:custGeom>
            <a:avLst/>
            <a:gdLst/>
            <a:ahLst/>
            <a:cxnLst/>
            <a:rect l="l" t="t" r="r" b="b"/>
            <a:pathLst>
              <a:path w="2287529" h="2287529">
                <a:moveTo>
                  <a:pt x="0" y="0"/>
                </a:moveTo>
                <a:lnTo>
                  <a:pt x="2287529" y="0"/>
                </a:lnTo>
                <a:lnTo>
                  <a:pt x="2287529" y="2287530"/>
                </a:lnTo>
                <a:lnTo>
                  <a:pt x="0" y="2287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4188375" y="2176084"/>
            <a:ext cx="630019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B2D3F5"/>
                </a:solidFill>
                <a:latin typeface="Aptos Bold"/>
                <a:ea typeface="Aptos Bold"/>
                <a:cs typeface="Aptos Bold"/>
                <a:sym typeface="Aptos Bold"/>
              </a:rPr>
              <a:t>ĐẠI HỌC TRÀ VINH  </a:t>
            </a: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B2D3F5"/>
                </a:solidFill>
                <a:latin typeface="Aptos Bold"/>
                <a:ea typeface="Aptos Bold"/>
                <a:cs typeface="Aptos Bold"/>
                <a:sym typeface="Aptos Bold"/>
              </a:rPr>
              <a:t> TRƯỜNG KỸ THUẬT VÀ CÔNG NGHỆ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9347" y="5432549"/>
            <a:ext cx="994735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XÂY DỰNG WEBSITE</a:t>
            </a:r>
          </a:p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QUẢN LÝ CHI TIÊU CÁ NHÂN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39347" y="4744991"/>
            <a:ext cx="88492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C5DCF5"/>
                </a:solidFill>
                <a:latin typeface="Aptos Bold"/>
                <a:ea typeface="Aptos Bold"/>
                <a:cs typeface="Aptos Bold"/>
                <a:sym typeface="Aptos Bold"/>
              </a:rPr>
              <a:t>ĐỒ ÁN HỌC PHẦN: CHUYÊN ĐỀ ASP.NET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39347" y="8435531"/>
            <a:ext cx="802561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Sinh viên: Huỳnh Thanh Phong  •  MSSV: 170125200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39347" y="7921271"/>
            <a:ext cx="802561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5DCF5"/>
                </a:solidFill>
                <a:latin typeface="Aptos"/>
                <a:ea typeface="Aptos"/>
                <a:cs typeface="Aptos"/>
                <a:sym typeface="Aptos"/>
              </a:rPr>
              <a:t>Lớp: DK25TTC3     |      GV: TS. Nguyễn Nhứt Lam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4978" y="739070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NỘI DUNG TRÌNH BÀY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550600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72401" y="2202367"/>
            <a:ext cx="16143199" cy="1084983"/>
            <a:chOff x="0" y="0"/>
            <a:chExt cx="21524265" cy="14466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524342" cy="1446657"/>
            </a:xfrm>
            <a:custGeom>
              <a:avLst/>
              <a:gdLst/>
              <a:ahLst/>
              <a:cxnLst/>
              <a:rect l="l" t="t" r="r" b="b"/>
              <a:pathLst>
                <a:path w="21524342" h="1446657">
                  <a:moveTo>
                    <a:pt x="0" y="173609"/>
                  </a:moveTo>
                  <a:cubicBezTo>
                    <a:pt x="0" y="77724"/>
                    <a:pt x="77724" y="0"/>
                    <a:pt x="173609" y="0"/>
                  </a:cubicBezTo>
                  <a:lnTo>
                    <a:pt x="21350732" y="0"/>
                  </a:lnTo>
                  <a:cubicBezTo>
                    <a:pt x="21446618" y="0"/>
                    <a:pt x="21524342" y="77724"/>
                    <a:pt x="21524342" y="173609"/>
                  </a:cubicBezTo>
                  <a:lnTo>
                    <a:pt x="21524342" y="1273048"/>
                  </a:lnTo>
                  <a:cubicBezTo>
                    <a:pt x="21524342" y="1368933"/>
                    <a:pt x="21446618" y="1446657"/>
                    <a:pt x="21350732" y="1446657"/>
                  </a:cubicBezTo>
                  <a:lnTo>
                    <a:pt x="173609" y="1446657"/>
                  </a:lnTo>
                  <a:cubicBezTo>
                    <a:pt x="77724" y="1446657"/>
                    <a:pt x="0" y="1368933"/>
                    <a:pt x="0" y="127304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4391" y="2428857"/>
            <a:ext cx="632003" cy="632003"/>
            <a:chOff x="0" y="0"/>
            <a:chExt cx="842670" cy="84267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842670" cy="842670"/>
              <a:chOff x="0" y="0"/>
              <a:chExt cx="842670" cy="84267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42645" cy="842645"/>
              </a:xfrm>
              <a:custGeom>
                <a:avLst/>
                <a:gdLst/>
                <a:ahLst/>
                <a:cxnLst/>
                <a:rect l="l" t="t" r="r" b="b"/>
                <a:pathLst>
                  <a:path w="842645" h="842645">
                    <a:moveTo>
                      <a:pt x="0" y="421386"/>
                    </a:moveTo>
                    <a:cubicBezTo>
                      <a:pt x="0" y="188595"/>
                      <a:pt x="188595" y="0"/>
                      <a:pt x="421386" y="0"/>
                    </a:cubicBezTo>
                    <a:cubicBezTo>
                      <a:pt x="654177" y="0"/>
                      <a:pt x="842645" y="188595"/>
                      <a:pt x="842645" y="421386"/>
                    </a:cubicBezTo>
                    <a:cubicBezTo>
                      <a:pt x="842645" y="654177"/>
                      <a:pt x="654050" y="842645"/>
                      <a:pt x="421386" y="842645"/>
                    </a:cubicBezTo>
                    <a:cubicBezTo>
                      <a:pt x="188722" y="842645"/>
                      <a:pt x="0" y="654050"/>
                      <a:pt x="0" y="421386"/>
                    </a:cubicBezTo>
                    <a:close/>
                  </a:path>
                </a:pathLst>
              </a:custGeom>
              <a:solidFill>
                <a:srgbClr val="1C64BE"/>
              </a:solidFill>
              <a:ln w="14299" cap="sq">
                <a:solidFill>
                  <a:srgbClr val="1C64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48900" y="186525"/>
              <a:ext cx="558578" cy="5030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sz="2499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335062" y="2516258"/>
            <a:ext cx="3586228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Bối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cảnh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&amp;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mục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tiêu</a:t>
            </a:r>
            <a:endParaRPr lang="en-US" sz="3000" b="1" dirty="0">
              <a:solidFill>
                <a:srgbClr val="0F2A4D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675453" y="2568646"/>
            <a:ext cx="967281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Lý do chọn đề tài, phạm vi và phương pháp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72401" y="3602494"/>
            <a:ext cx="16143199" cy="1084983"/>
            <a:chOff x="0" y="0"/>
            <a:chExt cx="21524265" cy="14466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524342" cy="1446657"/>
            </a:xfrm>
            <a:custGeom>
              <a:avLst/>
              <a:gdLst/>
              <a:ahLst/>
              <a:cxnLst/>
              <a:rect l="l" t="t" r="r" b="b"/>
              <a:pathLst>
                <a:path w="21524342" h="1446657">
                  <a:moveTo>
                    <a:pt x="0" y="173609"/>
                  </a:moveTo>
                  <a:cubicBezTo>
                    <a:pt x="0" y="77724"/>
                    <a:pt x="77724" y="0"/>
                    <a:pt x="173609" y="0"/>
                  </a:cubicBezTo>
                  <a:lnTo>
                    <a:pt x="21350732" y="0"/>
                  </a:lnTo>
                  <a:cubicBezTo>
                    <a:pt x="21446618" y="0"/>
                    <a:pt x="21524342" y="77724"/>
                    <a:pt x="21524342" y="173609"/>
                  </a:cubicBezTo>
                  <a:lnTo>
                    <a:pt x="21524342" y="1273048"/>
                  </a:lnTo>
                  <a:cubicBezTo>
                    <a:pt x="21524342" y="1368933"/>
                    <a:pt x="21446618" y="1446657"/>
                    <a:pt x="21350732" y="1446657"/>
                  </a:cubicBezTo>
                  <a:lnTo>
                    <a:pt x="173609" y="1446657"/>
                  </a:lnTo>
                  <a:cubicBezTo>
                    <a:pt x="77724" y="1446657"/>
                    <a:pt x="0" y="1368933"/>
                    <a:pt x="0" y="127304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74396" y="3828984"/>
            <a:ext cx="632003" cy="632003"/>
            <a:chOff x="0" y="0"/>
            <a:chExt cx="842670" cy="84267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842670" cy="842670"/>
              <a:chOff x="0" y="0"/>
              <a:chExt cx="842670" cy="84267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42645" cy="842645"/>
              </a:xfrm>
              <a:custGeom>
                <a:avLst/>
                <a:gdLst/>
                <a:ahLst/>
                <a:cxnLst/>
                <a:rect l="l" t="t" r="r" b="b"/>
                <a:pathLst>
                  <a:path w="842645" h="842645">
                    <a:moveTo>
                      <a:pt x="0" y="421386"/>
                    </a:moveTo>
                    <a:cubicBezTo>
                      <a:pt x="0" y="188595"/>
                      <a:pt x="188595" y="0"/>
                      <a:pt x="421386" y="0"/>
                    </a:cubicBezTo>
                    <a:cubicBezTo>
                      <a:pt x="654177" y="0"/>
                      <a:pt x="842645" y="188595"/>
                      <a:pt x="842645" y="421386"/>
                    </a:cubicBezTo>
                    <a:cubicBezTo>
                      <a:pt x="842645" y="654177"/>
                      <a:pt x="654050" y="842645"/>
                      <a:pt x="421386" y="842645"/>
                    </a:cubicBezTo>
                    <a:cubicBezTo>
                      <a:pt x="188722" y="842645"/>
                      <a:pt x="0" y="654050"/>
                      <a:pt x="0" y="421386"/>
                    </a:cubicBezTo>
                    <a:close/>
                  </a:path>
                </a:pathLst>
              </a:custGeom>
              <a:solidFill>
                <a:srgbClr val="1C64BE"/>
              </a:solidFill>
              <a:ln w="14299" cap="sq">
                <a:solidFill>
                  <a:srgbClr val="1C64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95205" y="183211"/>
              <a:ext cx="512266" cy="5030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sz="2499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335062" y="3916386"/>
            <a:ext cx="3612422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Nền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tảng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công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nghệ</a:t>
            </a:r>
            <a:endParaRPr lang="en-US" sz="3000" b="1" dirty="0">
              <a:solidFill>
                <a:srgbClr val="0F2A4D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675453" y="3968773"/>
            <a:ext cx="967281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ASP.NET Core MVC, C#, EF Core, SQL Server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72401" y="5002621"/>
            <a:ext cx="16143199" cy="1084983"/>
            <a:chOff x="0" y="0"/>
            <a:chExt cx="21524265" cy="14466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524342" cy="1446657"/>
            </a:xfrm>
            <a:custGeom>
              <a:avLst/>
              <a:gdLst/>
              <a:ahLst/>
              <a:cxnLst/>
              <a:rect l="l" t="t" r="r" b="b"/>
              <a:pathLst>
                <a:path w="21524342" h="1446657">
                  <a:moveTo>
                    <a:pt x="0" y="173609"/>
                  </a:moveTo>
                  <a:cubicBezTo>
                    <a:pt x="0" y="77724"/>
                    <a:pt x="77724" y="0"/>
                    <a:pt x="173609" y="0"/>
                  </a:cubicBezTo>
                  <a:lnTo>
                    <a:pt x="21350732" y="0"/>
                  </a:lnTo>
                  <a:cubicBezTo>
                    <a:pt x="21446618" y="0"/>
                    <a:pt x="21524342" y="77724"/>
                    <a:pt x="21524342" y="173609"/>
                  </a:cubicBezTo>
                  <a:lnTo>
                    <a:pt x="21524342" y="1273048"/>
                  </a:lnTo>
                  <a:cubicBezTo>
                    <a:pt x="21524342" y="1368933"/>
                    <a:pt x="21446618" y="1446657"/>
                    <a:pt x="21350732" y="1446657"/>
                  </a:cubicBezTo>
                  <a:lnTo>
                    <a:pt x="173609" y="1446657"/>
                  </a:lnTo>
                  <a:cubicBezTo>
                    <a:pt x="77724" y="1446657"/>
                    <a:pt x="0" y="1368933"/>
                    <a:pt x="0" y="127304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74391" y="5230402"/>
            <a:ext cx="632003" cy="632003"/>
            <a:chOff x="0" y="0"/>
            <a:chExt cx="842670" cy="84267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842670" cy="842670"/>
              <a:chOff x="0" y="0"/>
              <a:chExt cx="842670" cy="84267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42645" cy="842645"/>
              </a:xfrm>
              <a:custGeom>
                <a:avLst/>
                <a:gdLst/>
                <a:ahLst/>
                <a:cxnLst/>
                <a:rect l="l" t="t" r="r" b="b"/>
                <a:pathLst>
                  <a:path w="842645" h="842645">
                    <a:moveTo>
                      <a:pt x="0" y="421386"/>
                    </a:moveTo>
                    <a:cubicBezTo>
                      <a:pt x="0" y="188595"/>
                      <a:pt x="188595" y="0"/>
                      <a:pt x="421386" y="0"/>
                    </a:cubicBezTo>
                    <a:cubicBezTo>
                      <a:pt x="654177" y="0"/>
                      <a:pt x="842645" y="188595"/>
                      <a:pt x="842645" y="421386"/>
                    </a:cubicBezTo>
                    <a:cubicBezTo>
                      <a:pt x="842645" y="654177"/>
                      <a:pt x="654050" y="842645"/>
                      <a:pt x="421386" y="842645"/>
                    </a:cubicBezTo>
                    <a:cubicBezTo>
                      <a:pt x="188722" y="842645"/>
                      <a:pt x="0" y="654050"/>
                      <a:pt x="0" y="421386"/>
                    </a:cubicBezTo>
                    <a:close/>
                  </a:path>
                </a:pathLst>
              </a:custGeom>
              <a:solidFill>
                <a:srgbClr val="1C64BE"/>
              </a:solidFill>
              <a:ln w="14299" cap="sq">
                <a:solidFill>
                  <a:srgbClr val="1C64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95211" y="185496"/>
              <a:ext cx="512268" cy="5030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sz="2499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335062" y="5317804"/>
            <a:ext cx="333785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Phân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tích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&amp;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thiết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kế</a:t>
            </a:r>
            <a:endParaRPr lang="en-US" sz="3000" b="1" dirty="0">
              <a:solidFill>
                <a:srgbClr val="0F2A4D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675453" y="5302954"/>
            <a:ext cx="967281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Yêu cầu, kiến trúc, dữ liệu và luồng nghiệp vụ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72401" y="6402749"/>
            <a:ext cx="16143199" cy="1084983"/>
            <a:chOff x="0" y="0"/>
            <a:chExt cx="21524265" cy="14466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524342" cy="1446657"/>
            </a:xfrm>
            <a:custGeom>
              <a:avLst/>
              <a:gdLst/>
              <a:ahLst/>
              <a:cxnLst/>
              <a:rect l="l" t="t" r="r" b="b"/>
              <a:pathLst>
                <a:path w="21524342" h="1446657">
                  <a:moveTo>
                    <a:pt x="0" y="173609"/>
                  </a:moveTo>
                  <a:cubicBezTo>
                    <a:pt x="0" y="77724"/>
                    <a:pt x="77724" y="0"/>
                    <a:pt x="173609" y="0"/>
                  </a:cubicBezTo>
                  <a:lnTo>
                    <a:pt x="21350732" y="0"/>
                  </a:lnTo>
                  <a:cubicBezTo>
                    <a:pt x="21446618" y="0"/>
                    <a:pt x="21524342" y="77724"/>
                    <a:pt x="21524342" y="173609"/>
                  </a:cubicBezTo>
                  <a:lnTo>
                    <a:pt x="21524342" y="1273048"/>
                  </a:lnTo>
                  <a:cubicBezTo>
                    <a:pt x="21524342" y="1368933"/>
                    <a:pt x="21446618" y="1446657"/>
                    <a:pt x="21350732" y="1446657"/>
                  </a:cubicBezTo>
                  <a:lnTo>
                    <a:pt x="173609" y="1446657"/>
                  </a:lnTo>
                  <a:cubicBezTo>
                    <a:pt x="77724" y="1446657"/>
                    <a:pt x="0" y="1368933"/>
                    <a:pt x="0" y="127304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74391" y="6629239"/>
            <a:ext cx="632003" cy="632003"/>
            <a:chOff x="0" y="0"/>
            <a:chExt cx="842670" cy="84267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842670" cy="842670"/>
              <a:chOff x="0" y="0"/>
              <a:chExt cx="842670" cy="84267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42645" cy="842645"/>
              </a:xfrm>
              <a:custGeom>
                <a:avLst/>
                <a:gdLst/>
                <a:ahLst/>
                <a:cxnLst/>
                <a:rect l="l" t="t" r="r" b="b"/>
                <a:pathLst>
                  <a:path w="842645" h="842645">
                    <a:moveTo>
                      <a:pt x="0" y="421386"/>
                    </a:moveTo>
                    <a:cubicBezTo>
                      <a:pt x="0" y="188595"/>
                      <a:pt x="188595" y="0"/>
                      <a:pt x="421386" y="0"/>
                    </a:cubicBezTo>
                    <a:cubicBezTo>
                      <a:pt x="654177" y="0"/>
                      <a:pt x="842645" y="188595"/>
                      <a:pt x="842645" y="421386"/>
                    </a:cubicBezTo>
                    <a:cubicBezTo>
                      <a:pt x="842645" y="654177"/>
                      <a:pt x="654050" y="842645"/>
                      <a:pt x="421386" y="842645"/>
                    </a:cubicBezTo>
                    <a:cubicBezTo>
                      <a:pt x="188722" y="842645"/>
                      <a:pt x="0" y="654050"/>
                      <a:pt x="0" y="421386"/>
                    </a:cubicBezTo>
                    <a:close/>
                  </a:path>
                </a:pathLst>
              </a:custGeom>
              <a:solidFill>
                <a:srgbClr val="1C64BE"/>
              </a:solidFill>
              <a:ln w="14299" cap="sq">
                <a:solidFill>
                  <a:srgbClr val="1C64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95209" y="185496"/>
              <a:ext cx="512268" cy="5030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u="none" strike="noStrike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2351532" y="6716640"/>
            <a:ext cx="3668268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Chức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năng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&amp;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kết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quả</a:t>
            </a:r>
            <a:endParaRPr lang="en-US" sz="3000" b="1" dirty="0">
              <a:solidFill>
                <a:srgbClr val="0F2A4D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675453" y="6769028"/>
            <a:ext cx="967281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Tài khoản, ví, giao dịch, ngân sách, báo cáo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072401" y="7802876"/>
            <a:ext cx="16143199" cy="1084983"/>
            <a:chOff x="0" y="0"/>
            <a:chExt cx="21524265" cy="14466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524342" cy="1446657"/>
            </a:xfrm>
            <a:custGeom>
              <a:avLst/>
              <a:gdLst/>
              <a:ahLst/>
              <a:cxnLst/>
              <a:rect l="l" t="t" r="r" b="b"/>
              <a:pathLst>
                <a:path w="21524342" h="1446657">
                  <a:moveTo>
                    <a:pt x="0" y="173609"/>
                  </a:moveTo>
                  <a:cubicBezTo>
                    <a:pt x="0" y="77724"/>
                    <a:pt x="77724" y="0"/>
                    <a:pt x="173609" y="0"/>
                  </a:cubicBezTo>
                  <a:lnTo>
                    <a:pt x="21350732" y="0"/>
                  </a:lnTo>
                  <a:cubicBezTo>
                    <a:pt x="21446618" y="0"/>
                    <a:pt x="21524342" y="77724"/>
                    <a:pt x="21524342" y="173609"/>
                  </a:cubicBezTo>
                  <a:lnTo>
                    <a:pt x="21524342" y="1273048"/>
                  </a:lnTo>
                  <a:cubicBezTo>
                    <a:pt x="21524342" y="1368933"/>
                    <a:pt x="21446618" y="1446657"/>
                    <a:pt x="21350732" y="1446657"/>
                  </a:cubicBezTo>
                  <a:lnTo>
                    <a:pt x="173609" y="1446657"/>
                  </a:lnTo>
                  <a:cubicBezTo>
                    <a:pt x="77724" y="1446657"/>
                    <a:pt x="0" y="1368933"/>
                    <a:pt x="0" y="127304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74391" y="8022504"/>
            <a:ext cx="632003" cy="632003"/>
            <a:chOff x="0" y="0"/>
            <a:chExt cx="842670" cy="84267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842670" cy="842670"/>
              <a:chOff x="0" y="0"/>
              <a:chExt cx="842670" cy="84267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42645" cy="842645"/>
              </a:xfrm>
              <a:custGeom>
                <a:avLst/>
                <a:gdLst/>
                <a:ahLst/>
                <a:cxnLst/>
                <a:rect l="l" t="t" r="r" b="b"/>
                <a:pathLst>
                  <a:path w="842645" h="842645">
                    <a:moveTo>
                      <a:pt x="0" y="421386"/>
                    </a:moveTo>
                    <a:cubicBezTo>
                      <a:pt x="0" y="188595"/>
                      <a:pt x="188595" y="0"/>
                      <a:pt x="421386" y="0"/>
                    </a:cubicBezTo>
                    <a:cubicBezTo>
                      <a:pt x="654177" y="0"/>
                      <a:pt x="842645" y="188595"/>
                      <a:pt x="842645" y="421386"/>
                    </a:cubicBezTo>
                    <a:cubicBezTo>
                      <a:pt x="842645" y="654177"/>
                      <a:pt x="654050" y="842645"/>
                      <a:pt x="421386" y="842645"/>
                    </a:cubicBezTo>
                    <a:cubicBezTo>
                      <a:pt x="188722" y="842645"/>
                      <a:pt x="0" y="654050"/>
                      <a:pt x="0" y="421386"/>
                    </a:cubicBezTo>
                    <a:close/>
                  </a:path>
                </a:pathLst>
              </a:custGeom>
              <a:solidFill>
                <a:srgbClr val="1C64BE"/>
              </a:solidFill>
              <a:ln w="14299" cap="sq">
                <a:solidFill>
                  <a:srgbClr val="1C64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95212" y="185496"/>
              <a:ext cx="512266" cy="5030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u="none" strike="noStrike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2351532" y="8116768"/>
            <a:ext cx="359595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Đánh giá &amp; phát triển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75453" y="8162293"/>
            <a:ext cx="967281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Kết luận, hạn chế và định hướng tiếp theo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4978" y="742921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BỐI CẢNH VÀ LÝ DO CHỌN ĐỀ TÀI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554451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295525"/>
            <a:ext cx="909369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Quản lý tiền phân tán gây khó theo dõi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857500"/>
            <a:ext cx="12631835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Nhiều khoản thu – chi phát sinh mỗi ngày.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Tiền mặt, tài khoản ngân hàng và ví điện tử nằm ở nhiều nơi.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Ghi nhớ hoặc ghi chép rời rạc khó tổng hợp lịch sử.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Khó so sánh thu nhập, chi tiêu và ngân sách tháng.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69387" y="5210175"/>
            <a:ext cx="3921465" cy="2141944"/>
            <a:chOff x="0" y="0"/>
            <a:chExt cx="5228620" cy="28559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28645" cy="2855976"/>
            </a:xfrm>
            <a:custGeom>
              <a:avLst/>
              <a:gdLst/>
              <a:ahLst/>
              <a:cxnLst/>
              <a:rect l="l" t="t" r="r" b="b"/>
              <a:pathLst>
                <a:path w="5228645" h="2855976">
                  <a:moveTo>
                    <a:pt x="0" y="342773"/>
                  </a:moveTo>
                  <a:cubicBezTo>
                    <a:pt x="0" y="153416"/>
                    <a:pt x="171176" y="0"/>
                    <a:pt x="382453" y="0"/>
                  </a:cubicBezTo>
                  <a:lnTo>
                    <a:pt x="4846196" y="0"/>
                  </a:lnTo>
                  <a:cubicBezTo>
                    <a:pt x="5057331" y="0"/>
                    <a:pt x="5228645" y="153416"/>
                    <a:pt x="5228645" y="342773"/>
                  </a:cubicBezTo>
                  <a:lnTo>
                    <a:pt x="5228645" y="2513203"/>
                  </a:lnTo>
                  <a:cubicBezTo>
                    <a:pt x="5228645" y="2702433"/>
                    <a:pt x="5057473" y="2855976"/>
                    <a:pt x="4846196" y="2855976"/>
                  </a:cubicBezTo>
                  <a:lnTo>
                    <a:pt x="382453" y="2855976"/>
                  </a:lnTo>
                  <a:cubicBezTo>
                    <a:pt x="17117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8437" y="5210175"/>
            <a:ext cx="110385" cy="2141944"/>
            <a:chOff x="0" y="0"/>
            <a:chExt cx="147180" cy="28559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7193" cy="2855976"/>
            </a:xfrm>
            <a:custGeom>
              <a:avLst/>
              <a:gdLst/>
              <a:ahLst/>
              <a:cxnLst/>
              <a:rect l="l" t="t" r="r" b="b"/>
              <a:pathLst>
                <a:path w="147193" h="2855976">
                  <a:moveTo>
                    <a:pt x="0" y="0"/>
                  </a:moveTo>
                  <a:lnTo>
                    <a:pt x="147193" y="0"/>
                  </a:lnTo>
                  <a:lnTo>
                    <a:pt x="147193" y="2855976"/>
                  </a:lnTo>
                  <a:lnTo>
                    <a:pt x="0" y="2855976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0021" y="6086723"/>
            <a:ext cx="338948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Ghi nhận thu – chi trong cùng một hệ thống.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0021" y="5487257"/>
            <a:ext cx="365083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DỮ LIỆU TẬP TRUNG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076446" y="5210175"/>
            <a:ext cx="3921465" cy="2141944"/>
            <a:chOff x="0" y="0"/>
            <a:chExt cx="5228620" cy="28559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28645" cy="2855976"/>
            </a:xfrm>
            <a:custGeom>
              <a:avLst/>
              <a:gdLst/>
              <a:ahLst/>
              <a:cxnLst/>
              <a:rect l="l" t="t" r="r" b="b"/>
              <a:pathLst>
                <a:path w="5228645" h="2855976">
                  <a:moveTo>
                    <a:pt x="0" y="342773"/>
                  </a:moveTo>
                  <a:cubicBezTo>
                    <a:pt x="0" y="153416"/>
                    <a:pt x="171176" y="0"/>
                    <a:pt x="382453" y="0"/>
                  </a:cubicBezTo>
                  <a:lnTo>
                    <a:pt x="4846196" y="0"/>
                  </a:lnTo>
                  <a:cubicBezTo>
                    <a:pt x="5057331" y="0"/>
                    <a:pt x="5228645" y="153416"/>
                    <a:pt x="5228645" y="342773"/>
                  </a:cubicBezTo>
                  <a:lnTo>
                    <a:pt x="5228645" y="2513203"/>
                  </a:lnTo>
                  <a:cubicBezTo>
                    <a:pt x="5228645" y="2702433"/>
                    <a:pt x="5057473" y="2855976"/>
                    <a:pt x="4846196" y="2855976"/>
                  </a:cubicBezTo>
                  <a:lnTo>
                    <a:pt x="382453" y="2855976"/>
                  </a:lnTo>
                  <a:cubicBezTo>
                    <a:pt x="17117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93215" y="5210175"/>
            <a:ext cx="110385" cy="2141944"/>
            <a:chOff x="0" y="0"/>
            <a:chExt cx="147180" cy="28559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7193" cy="2855976"/>
            </a:xfrm>
            <a:custGeom>
              <a:avLst/>
              <a:gdLst/>
              <a:ahLst/>
              <a:cxnLst/>
              <a:rect l="l" t="t" r="r" b="b"/>
              <a:pathLst>
                <a:path w="147193" h="2855976">
                  <a:moveTo>
                    <a:pt x="0" y="0"/>
                  </a:moveTo>
                  <a:lnTo>
                    <a:pt x="147193" y="0"/>
                  </a:lnTo>
                  <a:lnTo>
                    <a:pt x="147193" y="2855976"/>
                  </a:lnTo>
                  <a:lnTo>
                    <a:pt x="0" y="2855976"/>
                  </a:ln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411474" y="5487257"/>
            <a:ext cx="2946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DỄ THEO DÕI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11474" y="6104954"/>
            <a:ext cx="290554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Số dư ví, danh mục và lịch sử giao dịch.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86382" y="5210175"/>
            <a:ext cx="3921465" cy="2141944"/>
            <a:chOff x="0" y="0"/>
            <a:chExt cx="5228620" cy="28559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28645" cy="2855976"/>
            </a:xfrm>
            <a:custGeom>
              <a:avLst/>
              <a:gdLst/>
              <a:ahLst/>
              <a:cxnLst/>
              <a:rect l="l" t="t" r="r" b="b"/>
              <a:pathLst>
                <a:path w="5228645" h="2855976">
                  <a:moveTo>
                    <a:pt x="0" y="342773"/>
                  </a:moveTo>
                  <a:cubicBezTo>
                    <a:pt x="0" y="153416"/>
                    <a:pt x="171176" y="0"/>
                    <a:pt x="382453" y="0"/>
                  </a:cubicBezTo>
                  <a:lnTo>
                    <a:pt x="4846196" y="0"/>
                  </a:lnTo>
                  <a:cubicBezTo>
                    <a:pt x="5057331" y="0"/>
                    <a:pt x="5228645" y="153416"/>
                    <a:pt x="5228645" y="342773"/>
                  </a:cubicBezTo>
                  <a:lnTo>
                    <a:pt x="5228645" y="2513203"/>
                  </a:lnTo>
                  <a:cubicBezTo>
                    <a:pt x="5228645" y="2702433"/>
                    <a:pt x="5057473" y="2855976"/>
                    <a:pt x="4846196" y="2855976"/>
                  </a:cubicBezTo>
                  <a:lnTo>
                    <a:pt x="382453" y="2855976"/>
                  </a:lnTo>
                  <a:cubicBezTo>
                    <a:pt x="17117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72315" y="5210175"/>
            <a:ext cx="110385" cy="2141944"/>
            <a:chOff x="0" y="0"/>
            <a:chExt cx="147180" cy="28559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7193" cy="2855976"/>
            </a:xfrm>
            <a:custGeom>
              <a:avLst/>
              <a:gdLst/>
              <a:ahLst/>
              <a:cxnLst/>
              <a:rect l="l" t="t" r="r" b="b"/>
              <a:pathLst>
                <a:path w="147193" h="2855976">
                  <a:moveTo>
                    <a:pt x="0" y="0"/>
                  </a:moveTo>
                  <a:lnTo>
                    <a:pt x="147193" y="0"/>
                  </a:lnTo>
                  <a:lnTo>
                    <a:pt x="147193" y="2855976"/>
                  </a:lnTo>
                  <a:lnTo>
                    <a:pt x="0" y="2855976"/>
                  </a:lnTo>
                  <a:close/>
                </a:path>
              </a:pathLst>
            </a:custGeom>
            <a:solidFill>
              <a:srgbClr val="239B73"/>
            </a:solidFill>
            <a:ln w="14299" cap="sq">
              <a:solidFill>
                <a:srgbClr val="239B7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619149" y="5466740"/>
            <a:ext cx="2946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CÓ NGÂN SÁCH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19149" y="6084437"/>
            <a:ext cx="290554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Thiết lập hạn mức theo danh mục và kỳ.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497148" y="5210175"/>
            <a:ext cx="3921465" cy="2141944"/>
            <a:chOff x="0" y="0"/>
            <a:chExt cx="5228620" cy="28559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28645" cy="2855976"/>
            </a:xfrm>
            <a:custGeom>
              <a:avLst/>
              <a:gdLst/>
              <a:ahLst/>
              <a:cxnLst/>
              <a:rect l="l" t="t" r="r" b="b"/>
              <a:pathLst>
                <a:path w="5228645" h="2855976">
                  <a:moveTo>
                    <a:pt x="0" y="342773"/>
                  </a:moveTo>
                  <a:cubicBezTo>
                    <a:pt x="0" y="153416"/>
                    <a:pt x="171176" y="0"/>
                    <a:pt x="382453" y="0"/>
                  </a:cubicBezTo>
                  <a:lnTo>
                    <a:pt x="4846196" y="0"/>
                  </a:lnTo>
                  <a:cubicBezTo>
                    <a:pt x="5057331" y="0"/>
                    <a:pt x="5228645" y="153416"/>
                    <a:pt x="5228645" y="342773"/>
                  </a:cubicBezTo>
                  <a:lnTo>
                    <a:pt x="5228645" y="2513203"/>
                  </a:lnTo>
                  <a:cubicBezTo>
                    <a:pt x="5228645" y="2702433"/>
                    <a:pt x="5057473" y="2855976"/>
                    <a:pt x="4846196" y="2855976"/>
                  </a:cubicBezTo>
                  <a:lnTo>
                    <a:pt x="382453" y="2855976"/>
                  </a:lnTo>
                  <a:cubicBezTo>
                    <a:pt x="17117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518479" y="5210175"/>
            <a:ext cx="110385" cy="2141944"/>
            <a:chOff x="0" y="0"/>
            <a:chExt cx="147180" cy="28559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7193" cy="2855976"/>
            </a:xfrm>
            <a:custGeom>
              <a:avLst/>
              <a:gdLst/>
              <a:ahLst/>
              <a:cxnLst/>
              <a:rect l="l" t="t" r="r" b="b"/>
              <a:pathLst>
                <a:path w="147193" h="2855976">
                  <a:moveTo>
                    <a:pt x="0" y="0"/>
                  </a:moveTo>
                  <a:lnTo>
                    <a:pt x="147193" y="0"/>
                  </a:lnTo>
                  <a:lnTo>
                    <a:pt x="147193" y="2855976"/>
                  </a:lnTo>
                  <a:lnTo>
                    <a:pt x="0" y="2855976"/>
                  </a:lnTo>
                  <a:close/>
                </a:path>
              </a:pathLst>
            </a:custGeom>
            <a:solidFill>
              <a:srgbClr val="6E68CD"/>
            </a:solidFill>
            <a:ln w="14299" cap="sq">
              <a:solidFill>
                <a:srgbClr val="6E68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836738" y="5487257"/>
            <a:ext cx="29467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CÓ BÁO CÁO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36738" y="6104954"/>
            <a:ext cx="2905544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Tổng hợp số liệu và biểu đồ theo thời gian.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4978" y="744726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MỤC TIÊU, ĐỐI TƯỢNG VÀ PHẠM VI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556256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6101" y="2889602"/>
            <a:ext cx="5161817" cy="2759640"/>
            <a:chOff x="0" y="0"/>
            <a:chExt cx="6882422" cy="3679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82511" cy="3679571"/>
            </a:xfrm>
            <a:custGeom>
              <a:avLst/>
              <a:gdLst/>
              <a:ahLst/>
              <a:cxnLst/>
              <a:rect l="l" t="t" r="r" b="b"/>
              <a:pathLst>
                <a:path w="6882511" h="3679571">
                  <a:moveTo>
                    <a:pt x="0" y="441579"/>
                  </a:moveTo>
                  <a:cubicBezTo>
                    <a:pt x="0" y="197739"/>
                    <a:pt x="197739" y="0"/>
                    <a:pt x="441579" y="0"/>
                  </a:cubicBezTo>
                  <a:lnTo>
                    <a:pt x="6440932" y="0"/>
                  </a:lnTo>
                  <a:cubicBezTo>
                    <a:pt x="6684772" y="0"/>
                    <a:pt x="6882511" y="197739"/>
                    <a:pt x="6882511" y="441579"/>
                  </a:cubicBezTo>
                  <a:lnTo>
                    <a:pt x="6882511" y="3237992"/>
                  </a:lnTo>
                  <a:cubicBezTo>
                    <a:pt x="6882511" y="3481832"/>
                    <a:pt x="6684772" y="3679571"/>
                    <a:pt x="6440932" y="3679571"/>
                  </a:cubicBezTo>
                  <a:lnTo>
                    <a:pt x="441579" y="3679571"/>
                  </a:lnTo>
                  <a:cubicBezTo>
                    <a:pt x="197739" y="3679571"/>
                    <a:pt x="0" y="3481832"/>
                    <a:pt x="0" y="323799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16101" y="2889602"/>
            <a:ext cx="110385" cy="2759640"/>
            <a:chOff x="0" y="0"/>
            <a:chExt cx="147180" cy="36795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7193" cy="3679571"/>
            </a:xfrm>
            <a:custGeom>
              <a:avLst/>
              <a:gdLst/>
              <a:ahLst/>
              <a:cxnLst/>
              <a:rect l="l" t="t" r="r" b="b"/>
              <a:pathLst>
                <a:path w="147193" h="3679571">
                  <a:moveTo>
                    <a:pt x="0" y="0"/>
                  </a:moveTo>
                  <a:lnTo>
                    <a:pt x="147193" y="0"/>
                  </a:lnTo>
                  <a:lnTo>
                    <a:pt x="147193" y="3679571"/>
                  </a:lnTo>
                  <a:lnTo>
                    <a:pt x="0" y="367957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34370" y="3166684"/>
            <a:ext cx="45939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MỤC TIÊU TỔNG QUÁT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4370" y="3793915"/>
            <a:ext cx="4552750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Xây dựng website giúp người dùng ghi nhận, quản lý và theo dõi tình hình thu chi theo tài khoản riêng.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606797" y="2889602"/>
            <a:ext cx="5161817" cy="2759640"/>
            <a:chOff x="0" y="0"/>
            <a:chExt cx="6882422" cy="3679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82511" cy="3679571"/>
            </a:xfrm>
            <a:custGeom>
              <a:avLst/>
              <a:gdLst/>
              <a:ahLst/>
              <a:cxnLst/>
              <a:rect l="l" t="t" r="r" b="b"/>
              <a:pathLst>
                <a:path w="6882511" h="3679571">
                  <a:moveTo>
                    <a:pt x="0" y="441579"/>
                  </a:moveTo>
                  <a:cubicBezTo>
                    <a:pt x="0" y="197739"/>
                    <a:pt x="197739" y="0"/>
                    <a:pt x="441579" y="0"/>
                  </a:cubicBezTo>
                  <a:lnTo>
                    <a:pt x="6440932" y="0"/>
                  </a:lnTo>
                  <a:cubicBezTo>
                    <a:pt x="6684772" y="0"/>
                    <a:pt x="6882511" y="197739"/>
                    <a:pt x="6882511" y="441579"/>
                  </a:cubicBezTo>
                  <a:lnTo>
                    <a:pt x="6882511" y="3237992"/>
                  </a:lnTo>
                  <a:cubicBezTo>
                    <a:pt x="6882511" y="3481832"/>
                    <a:pt x="6684772" y="3679571"/>
                    <a:pt x="6440932" y="3679571"/>
                  </a:cubicBezTo>
                  <a:lnTo>
                    <a:pt x="441579" y="3679571"/>
                  </a:lnTo>
                  <a:cubicBezTo>
                    <a:pt x="197739" y="3679571"/>
                    <a:pt x="0" y="3481832"/>
                    <a:pt x="0" y="323799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06797" y="2889602"/>
            <a:ext cx="110385" cy="2759640"/>
            <a:chOff x="0" y="0"/>
            <a:chExt cx="147180" cy="3679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7193" cy="3679571"/>
            </a:xfrm>
            <a:custGeom>
              <a:avLst/>
              <a:gdLst/>
              <a:ahLst/>
              <a:cxnLst/>
              <a:rect l="l" t="t" r="r" b="b"/>
              <a:pathLst>
                <a:path w="147193" h="3679571">
                  <a:moveTo>
                    <a:pt x="0" y="0"/>
                  </a:moveTo>
                  <a:lnTo>
                    <a:pt x="147193" y="0"/>
                  </a:lnTo>
                  <a:lnTo>
                    <a:pt x="147193" y="3679571"/>
                  </a:lnTo>
                  <a:lnTo>
                    <a:pt x="0" y="3679571"/>
                  </a:ln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925056" y="3166684"/>
            <a:ext cx="45939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ĐỐI TƯỢNG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25056" y="3793915"/>
            <a:ext cx="4552750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Nghiệp vụ thu nhập, chi tiêu, ví tiền, danh mục, ngân sách; mô hình dữ liệu và cách tổ chức ứng dụng theo kiến trúc MVC.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97483" y="2889602"/>
            <a:ext cx="5161817" cy="2759640"/>
            <a:chOff x="0" y="0"/>
            <a:chExt cx="6882422" cy="3679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82511" cy="3679571"/>
            </a:xfrm>
            <a:custGeom>
              <a:avLst/>
              <a:gdLst/>
              <a:ahLst/>
              <a:cxnLst/>
              <a:rect l="l" t="t" r="r" b="b"/>
              <a:pathLst>
                <a:path w="6882511" h="3679571">
                  <a:moveTo>
                    <a:pt x="0" y="441579"/>
                  </a:moveTo>
                  <a:cubicBezTo>
                    <a:pt x="0" y="197739"/>
                    <a:pt x="197739" y="0"/>
                    <a:pt x="441579" y="0"/>
                  </a:cubicBezTo>
                  <a:lnTo>
                    <a:pt x="6440932" y="0"/>
                  </a:lnTo>
                  <a:cubicBezTo>
                    <a:pt x="6684772" y="0"/>
                    <a:pt x="6882511" y="197739"/>
                    <a:pt x="6882511" y="441579"/>
                  </a:cubicBezTo>
                  <a:lnTo>
                    <a:pt x="6882511" y="3237992"/>
                  </a:lnTo>
                  <a:cubicBezTo>
                    <a:pt x="6882511" y="3481832"/>
                    <a:pt x="6684772" y="3679571"/>
                    <a:pt x="6440932" y="3679571"/>
                  </a:cubicBezTo>
                  <a:lnTo>
                    <a:pt x="441579" y="3679571"/>
                  </a:lnTo>
                  <a:cubicBezTo>
                    <a:pt x="197739" y="3679571"/>
                    <a:pt x="0" y="3481832"/>
                    <a:pt x="0" y="323799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97483" y="2889602"/>
            <a:ext cx="110385" cy="2759640"/>
            <a:chOff x="0" y="0"/>
            <a:chExt cx="147180" cy="3679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7193" cy="3679571"/>
            </a:xfrm>
            <a:custGeom>
              <a:avLst/>
              <a:gdLst/>
              <a:ahLst/>
              <a:cxnLst/>
              <a:rect l="l" t="t" r="r" b="b"/>
              <a:pathLst>
                <a:path w="147193" h="3679571">
                  <a:moveTo>
                    <a:pt x="0" y="0"/>
                  </a:moveTo>
                  <a:lnTo>
                    <a:pt x="147193" y="0"/>
                  </a:lnTo>
                  <a:lnTo>
                    <a:pt x="147193" y="3679571"/>
                  </a:lnTo>
                  <a:lnTo>
                    <a:pt x="0" y="3679571"/>
                  </a:lnTo>
                  <a:close/>
                </a:path>
              </a:pathLst>
            </a:custGeom>
            <a:solidFill>
              <a:srgbClr val="239B73"/>
            </a:solidFill>
            <a:ln w="14299" cap="sq">
              <a:solidFill>
                <a:srgbClr val="239B7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415742" y="3166684"/>
            <a:ext cx="45939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NGƯỜI DÙNG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15742" y="3793915"/>
            <a:ext cx="455275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Cá nhân có nhu cầu ghi chép giao dịch, theo dõi số dư và kiểm soát chi tiêu.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6579" y="6275033"/>
            <a:ext cx="679021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PHẠM VI HIỆN THỰC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6072" y="6876413"/>
            <a:ext cx="728893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Tài khoản, ví, danh mục, giao dịch, ngân sách.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Dashboard và báo cáo theo khoảng thời gian.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Dữ liệu VND do người dùng nhập thủ công.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23981" y="6275033"/>
            <a:ext cx="679021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CHƯA THUỘC PHẠM VI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83474" y="6876413"/>
            <a:ext cx="7863197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Không kết nối trực tiếp ngân hàng / ví điện tử.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Chưa thanh toán trực tuyến hoặc ứng dụng di động.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Chưa có giao dịch định kỳ, hóa đơn, mục tiêu tiết kiệm.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4978" y="744726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PHƯƠNG PHÁP THỰC HIỆN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230624" y="2618958"/>
            <a:ext cx="975170" cy="975170"/>
            <a:chOff x="0" y="0"/>
            <a:chExt cx="1300226" cy="13002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0226" cy="1300226"/>
            </a:xfrm>
            <a:custGeom>
              <a:avLst/>
              <a:gdLst/>
              <a:ahLst/>
              <a:cxnLst/>
              <a:rect l="l" t="t" r="r" b="b"/>
              <a:pathLst>
                <a:path w="1300226" h="1300226">
                  <a:moveTo>
                    <a:pt x="0" y="650113"/>
                  </a:moveTo>
                  <a:cubicBezTo>
                    <a:pt x="0" y="291084"/>
                    <a:pt x="291084" y="0"/>
                    <a:pt x="650113" y="0"/>
                  </a:cubicBezTo>
                  <a:cubicBezTo>
                    <a:pt x="1009142" y="0"/>
                    <a:pt x="1300226" y="291084"/>
                    <a:pt x="1300226" y="650113"/>
                  </a:cubicBezTo>
                  <a:cubicBezTo>
                    <a:pt x="1300226" y="1009142"/>
                    <a:pt x="1009142" y="1300226"/>
                    <a:pt x="650113" y="1300226"/>
                  </a:cubicBezTo>
                  <a:cubicBezTo>
                    <a:pt x="291084" y="1300226"/>
                    <a:pt x="0" y="1009142"/>
                    <a:pt x="0" y="650113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14600" y="2930331"/>
            <a:ext cx="408909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3335270" y="3034122"/>
            <a:ext cx="3048612" cy="125062"/>
          </a:xfrm>
          <a:prstGeom prst="line">
            <a:avLst/>
          </a:prstGeom>
          <a:ln w="19050" cap="rnd">
            <a:solidFill>
              <a:srgbClr val="D7E4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41897" y="4035354"/>
            <a:ext cx="315263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Nghiên cứu tài liệu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3265" y="4673529"/>
            <a:ext cx="328989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Tìm hiểu ASP.NET Core MVC, C#, EF Core, SQL Server và bảo mật.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513359" y="2618958"/>
            <a:ext cx="975170" cy="975170"/>
            <a:chOff x="0" y="0"/>
            <a:chExt cx="1300226" cy="13002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226" cy="1300226"/>
            </a:xfrm>
            <a:custGeom>
              <a:avLst/>
              <a:gdLst/>
              <a:ahLst/>
              <a:cxnLst/>
              <a:rect l="l" t="t" r="r" b="b"/>
              <a:pathLst>
                <a:path w="1300226" h="1300226">
                  <a:moveTo>
                    <a:pt x="0" y="650113"/>
                  </a:moveTo>
                  <a:cubicBezTo>
                    <a:pt x="0" y="291084"/>
                    <a:pt x="291084" y="0"/>
                    <a:pt x="650113" y="0"/>
                  </a:cubicBezTo>
                  <a:cubicBezTo>
                    <a:pt x="1009142" y="0"/>
                    <a:pt x="1300226" y="291084"/>
                    <a:pt x="1300226" y="650113"/>
                  </a:cubicBezTo>
                  <a:cubicBezTo>
                    <a:pt x="1300226" y="1009142"/>
                    <a:pt x="1009142" y="1300226"/>
                    <a:pt x="650113" y="1300226"/>
                  </a:cubicBezTo>
                  <a:cubicBezTo>
                    <a:pt x="291084" y="1300226"/>
                    <a:pt x="0" y="1009142"/>
                    <a:pt x="0" y="650113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781800" y="2930331"/>
            <a:ext cx="407649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4628" y="4035354"/>
            <a:ext cx="315263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Phân tích – thiết kế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55996" y="4673529"/>
            <a:ext cx="328989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Xác định tác nhân, yêu cầu, use case, cơ sở dữ liệu và ràng buộc.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796095" y="2618958"/>
            <a:ext cx="975170" cy="975170"/>
            <a:chOff x="0" y="0"/>
            <a:chExt cx="1300226" cy="13002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00226" cy="1300226"/>
            </a:xfrm>
            <a:custGeom>
              <a:avLst/>
              <a:gdLst/>
              <a:ahLst/>
              <a:cxnLst/>
              <a:rect l="l" t="t" r="r" b="b"/>
              <a:pathLst>
                <a:path w="1300226" h="1300226">
                  <a:moveTo>
                    <a:pt x="0" y="650113"/>
                  </a:moveTo>
                  <a:cubicBezTo>
                    <a:pt x="0" y="291084"/>
                    <a:pt x="291084" y="0"/>
                    <a:pt x="650113" y="0"/>
                  </a:cubicBezTo>
                  <a:cubicBezTo>
                    <a:pt x="1009142" y="0"/>
                    <a:pt x="1300226" y="291084"/>
                    <a:pt x="1300226" y="650113"/>
                  </a:cubicBezTo>
                  <a:cubicBezTo>
                    <a:pt x="1300226" y="1009142"/>
                    <a:pt x="1009142" y="1300226"/>
                    <a:pt x="650113" y="1300226"/>
                  </a:cubicBezTo>
                  <a:cubicBezTo>
                    <a:pt x="291084" y="1300226"/>
                    <a:pt x="0" y="1009142"/>
                    <a:pt x="0" y="650113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114086" y="2930331"/>
            <a:ext cx="392114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07363" y="4035354"/>
            <a:ext cx="315263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Hiện thực ứng dụng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38736" y="4673529"/>
            <a:ext cx="328989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Xây dựng Model, View, Controller, ViewModel và truy cập dữ liệu.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078839" y="2618958"/>
            <a:ext cx="975170" cy="975170"/>
            <a:chOff x="0" y="0"/>
            <a:chExt cx="1300226" cy="130022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00226" cy="1300226"/>
            </a:xfrm>
            <a:custGeom>
              <a:avLst/>
              <a:gdLst/>
              <a:ahLst/>
              <a:cxnLst/>
              <a:rect l="l" t="t" r="r" b="b"/>
              <a:pathLst>
                <a:path w="1300226" h="1300226">
                  <a:moveTo>
                    <a:pt x="0" y="650113"/>
                  </a:moveTo>
                  <a:cubicBezTo>
                    <a:pt x="0" y="291084"/>
                    <a:pt x="291084" y="0"/>
                    <a:pt x="650113" y="0"/>
                  </a:cubicBezTo>
                  <a:cubicBezTo>
                    <a:pt x="1009142" y="0"/>
                    <a:pt x="1300226" y="291084"/>
                    <a:pt x="1300226" y="650113"/>
                  </a:cubicBezTo>
                  <a:cubicBezTo>
                    <a:pt x="1300226" y="1009142"/>
                    <a:pt x="1009142" y="1300226"/>
                    <a:pt x="650113" y="1300226"/>
                  </a:cubicBezTo>
                  <a:cubicBezTo>
                    <a:pt x="291084" y="1300226"/>
                    <a:pt x="0" y="1009142"/>
                    <a:pt x="0" y="650113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396820" y="2949392"/>
            <a:ext cx="376579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93470" y="4035354"/>
            <a:ext cx="315263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Kiểm thử – đối chiếu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24838" y="4673529"/>
            <a:ext cx="328989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Kiểm tra tài khoản, ví, giao dịch, ngân sách và báo cáo.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71425" y="7062111"/>
            <a:ext cx="15113698" cy="1181071"/>
            <a:chOff x="0" y="0"/>
            <a:chExt cx="20151598" cy="157476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151598" cy="1574800"/>
            </a:xfrm>
            <a:custGeom>
              <a:avLst/>
              <a:gdLst/>
              <a:ahLst/>
              <a:cxnLst/>
              <a:rect l="l" t="t" r="r" b="b"/>
              <a:pathLst>
                <a:path w="20151598" h="1574800">
                  <a:moveTo>
                    <a:pt x="0" y="188976"/>
                  </a:moveTo>
                  <a:cubicBezTo>
                    <a:pt x="0" y="84582"/>
                    <a:pt x="84582" y="0"/>
                    <a:pt x="188976" y="0"/>
                  </a:cubicBezTo>
                  <a:lnTo>
                    <a:pt x="19962622" y="0"/>
                  </a:lnTo>
                  <a:cubicBezTo>
                    <a:pt x="20067015" y="0"/>
                    <a:pt x="20151598" y="84582"/>
                    <a:pt x="20151598" y="188976"/>
                  </a:cubicBezTo>
                  <a:lnTo>
                    <a:pt x="20151598" y="1385824"/>
                  </a:lnTo>
                  <a:cubicBezTo>
                    <a:pt x="20151598" y="1490218"/>
                    <a:pt x="20067015" y="1574800"/>
                    <a:pt x="19962622" y="1574800"/>
                  </a:cubicBezTo>
                  <a:lnTo>
                    <a:pt x="188976" y="1574800"/>
                  </a:lnTo>
                  <a:cubicBezTo>
                    <a:pt x="84582" y="1574800"/>
                    <a:pt x="0" y="1490218"/>
                    <a:pt x="0" y="1385824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957525" y="7458532"/>
            <a:ext cx="1234149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Công cụ: .NET 10 SDK • SQL Server • SQL Server Management Studio • Trình duyệt web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28700" y="1556256"/>
            <a:ext cx="1002621" cy="89792"/>
            <a:chOff x="0" y="0"/>
            <a:chExt cx="1336827" cy="11972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7622269" y="3024605"/>
            <a:ext cx="3048612" cy="125062"/>
          </a:xfrm>
          <a:prstGeom prst="line">
            <a:avLst/>
          </a:prstGeom>
          <a:ln w="19050" cap="rnd">
            <a:solidFill>
              <a:srgbClr val="D7E4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11905004" y="3034122"/>
            <a:ext cx="3048612" cy="125062"/>
          </a:xfrm>
          <a:prstGeom prst="line">
            <a:avLst/>
          </a:prstGeom>
          <a:ln w="19050" cap="rnd">
            <a:solidFill>
              <a:srgbClr val="D7E4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4978" y="742655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NỀN TẢNG CÔNG NGHỆ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554185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8660" y="2102749"/>
            <a:ext cx="15319600" cy="1222248"/>
            <a:chOff x="0" y="0"/>
            <a:chExt cx="20426134" cy="16296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26172" cy="1629664"/>
            </a:xfrm>
            <a:custGeom>
              <a:avLst/>
              <a:gdLst/>
              <a:ahLst/>
              <a:cxnLst/>
              <a:rect l="l" t="t" r="r" b="b"/>
              <a:pathLst>
                <a:path w="20426172" h="1629664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20230592" y="0"/>
                  </a:lnTo>
                  <a:cubicBezTo>
                    <a:pt x="20338542" y="0"/>
                    <a:pt x="20426172" y="87503"/>
                    <a:pt x="20426172" y="195580"/>
                  </a:cubicBezTo>
                  <a:lnTo>
                    <a:pt x="20426172" y="1434084"/>
                  </a:lnTo>
                  <a:cubicBezTo>
                    <a:pt x="20426172" y="1542034"/>
                    <a:pt x="20338669" y="1629664"/>
                    <a:pt x="20230592" y="1629664"/>
                  </a:cubicBezTo>
                  <a:lnTo>
                    <a:pt x="195580" y="1629664"/>
                  </a:lnTo>
                  <a:cubicBezTo>
                    <a:pt x="87630" y="1629664"/>
                    <a:pt x="0" y="1542161"/>
                    <a:pt x="0" y="143408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58660" y="2102749"/>
            <a:ext cx="2965542" cy="1222248"/>
            <a:chOff x="0" y="0"/>
            <a:chExt cx="3954056" cy="16296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54018" cy="1629664"/>
            </a:xfrm>
            <a:custGeom>
              <a:avLst/>
              <a:gdLst/>
              <a:ahLst/>
              <a:cxnLst/>
              <a:rect l="l" t="t" r="r" b="b"/>
              <a:pathLst>
                <a:path w="3954018" h="1629664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3758438" y="0"/>
                  </a:lnTo>
                  <a:cubicBezTo>
                    <a:pt x="3866388" y="0"/>
                    <a:pt x="3954018" y="87503"/>
                    <a:pt x="3954018" y="195580"/>
                  </a:cubicBezTo>
                  <a:lnTo>
                    <a:pt x="3954018" y="1434084"/>
                  </a:lnTo>
                  <a:cubicBezTo>
                    <a:pt x="3954018" y="1542034"/>
                    <a:pt x="3866515" y="1629664"/>
                    <a:pt x="3758438" y="1629664"/>
                  </a:cubicBezTo>
                  <a:lnTo>
                    <a:pt x="195580" y="1629664"/>
                  </a:lnTo>
                  <a:cubicBezTo>
                    <a:pt x="87630" y="1629664"/>
                    <a:pt x="0" y="1542161"/>
                    <a:pt x="0" y="1434084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06939" y="2485273"/>
            <a:ext cx="185525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GIAO DIỆN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34066" y="2306043"/>
            <a:ext cx="493447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Razor Views • Bootstrap 4 • jQuery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34066" y="2769277"/>
            <a:ext cx="508727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Hiển thị HTML, biểu mẫu và tương tác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58660" y="3722503"/>
            <a:ext cx="15319600" cy="1222248"/>
            <a:chOff x="0" y="0"/>
            <a:chExt cx="20426134" cy="16296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26172" cy="1629664"/>
            </a:xfrm>
            <a:custGeom>
              <a:avLst/>
              <a:gdLst/>
              <a:ahLst/>
              <a:cxnLst/>
              <a:rect l="l" t="t" r="r" b="b"/>
              <a:pathLst>
                <a:path w="20426172" h="1629664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20230592" y="0"/>
                  </a:lnTo>
                  <a:cubicBezTo>
                    <a:pt x="20338542" y="0"/>
                    <a:pt x="20426172" y="87503"/>
                    <a:pt x="20426172" y="195580"/>
                  </a:cubicBezTo>
                  <a:lnTo>
                    <a:pt x="20426172" y="1434084"/>
                  </a:lnTo>
                  <a:cubicBezTo>
                    <a:pt x="20426172" y="1542034"/>
                    <a:pt x="20338669" y="1629664"/>
                    <a:pt x="20230592" y="1629664"/>
                  </a:cubicBezTo>
                  <a:lnTo>
                    <a:pt x="195580" y="1629664"/>
                  </a:lnTo>
                  <a:cubicBezTo>
                    <a:pt x="87630" y="1629664"/>
                    <a:pt x="0" y="1542161"/>
                    <a:pt x="0" y="143408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8660" y="3722503"/>
            <a:ext cx="2965542" cy="1222248"/>
            <a:chOff x="0" y="0"/>
            <a:chExt cx="3954056" cy="16296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54018" cy="1629664"/>
            </a:xfrm>
            <a:custGeom>
              <a:avLst/>
              <a:gdLst/>
              <a:ahLst/>
              <a:cxnLst/>
              <a:rect l="l" t="t" r="r" b="b"/>
              <a:pathLst>
                <a:path w="3954018" h="1629664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3758438" y="0"/>
                  </a:lnTo>
                  <a:cubicBezTo>
                    <a:pt x="3866388" y="0"/>
                    <a:pt x="3954018" y="87503"/>
                    <a:pt x="3954018" y="195580"/>
                  </a:cubicBezTo>
                  <a:lnTo>
                    <a:pt x="3954018" y="1434084"/>
                  </a:lnTo>
                  <a:cubicBezTo>
                    <a:pt x="3954018" y="1542034"/>
                    <a:pt x="3866515" y="1629664"/>
                    <a:pt x="3758438" y="1629664"/>
                  </a:cubicBezTo>
                  <a:lnTo>
                    <a:pt x="195580" y="1629664"/>
                  </a:lnTo>
                  <a:cubicBezTo>
                    <a:pt x="87630" y="1629664"/>
                    <a:pt x="0" y="1542161"/>
                    <a:pt x="0" y="1434084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25778" y="4105027"/>
            <a:ext cx="201758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ỨNG DỤNG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34066" y="3924052"/>
            <a:ext cx="478816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ASP.NET Core MVC • .NET 10 • C#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34066" y="4390777"/>
            <a:ext cx="461129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Tiếp nhận yêu cầu, xử lý nghiệp vụ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58660" y="5342249"/>
            <a:ext cx="15319600" cy="1222248"/>
            <a:chOff x="0" y="0"/>
            <a:chExt cx="20426134" cy="16296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26172" cy="1629664"/>
            </a:xfrm>
            <a:custGeom>
              <a:avLst/>
              <a:gdLst/>
              <a:ahLst/>
              <a:cxnLst/>
              <a:rect l="l" t="t" r="r" b="b"/>
              <a:pathLst>
                <a:path w="20426172" h="1629664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20230592" y="0"/>
                  </a:lnTo>
                  <a:cubicBezTo>
                    <a:pt x="20338542" y="0"/>
                    <a:pt x="20426172" y="87503"/>
                    <a:pt x="20426172" y="195580"/>
                  </a:cubicBezTo>
                  <a:lnTo>
                    <a:pt x="20426172" y="1434084"/>
                  </a:lnTo>
                  <a:cubicBezTo>
                    <a:pt x="20426172" y="1542034"/>
                    <a:pt x="20338669" y="1629664"/>
                    <a:pt x="20230592" y="1629664"/>
                  </a:cubicBezTo>
                  <a:lnTo>
                    <a:pt x="195580" y="1629664"/>
                  </a:lnTo>
                  <a:cubicBezTo>
                    <a:pt x="87630" y="1629664"/>
                    <a:pt x="0" y="1542161"/>
                    <a:pt x="0" y="143408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58660" y="5342249"/>
            <a:ext cx="2965542" cy="1222248"/>
            <a:chOff x="0" y="0"/>
            <a:chExt cx="3954056" cy="16296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54018" cy="1629664"/>
            </a:xfrm>
            <a:custGeom>
              <a:avLst/>
              <a:gdLst/>
              <a:ahLst/>
              <a:cxnLst/>
              <a:rect l="l" t="t" r="r" b="b"/>
              <a:pathLst>
                <a:path w="3954018" h="1629664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3758438" y="0"/>
                  </a:lnTo>
                  <a:cubicBezTo>
                    <a:pt x="3866388" y="0"/>
                    <a:pt x="3954018" y="87503"/>
                    <a:pt x="3954018" y="195580"/>
                  </a:cubicBezTo>
                  <a:lnTo>
                    <a:pt x="3954018" y="1434084"/>
                  </a:lnTo>
                  <a:cubicBezTo>
                    <a:pt x="3954018" y="1542034"/>
                    <a:pt x="3866515" y="1629664"/>
                    <a:pt x="3758438" y="1629664"/>
                  </a:cubicBezTo>
                  <a:lnTo>
                    <a:pt x="195580" y="1629664"/>
                  </a:lnTo>
                  <a:cubicBezTo>
                    <a:pt x="87630" y="1629664"/>
                    <a:pt x="0" y="1542161"/>
                    <a:pt x="0" y="1434084"/>
                  </a:cubicBezTo>
                  <a:close/>
                </a:path>
              </a:pathLst>
            </a:custGeom>
            <a:solidFill>
              <a:srgbClr val="6E68CD"/>
            </a:solidFill>
            <a:ln w="14299" cap="sq">
              <a:solidFill>
                <a:srgbClr val="6E68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91883" y="5496173"/>
            <a:ext cx="2085371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TRUY CẬP DỮ LIỆU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34066" y="5545684"/>
            <a:ext cx="646641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Entity Framework Core 10 • LINQ • Code First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34066" y="6008646"/>
            <a:ext cx="540226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Ánh xạ đối tượng, truy vấn và migrations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58660" y="6962003"/>
            <a:ext cx="15319600" cy="1222248"/>
            <a:chOff x="0" y="0"/>
            <a:chExt cx="20426134" cy="16296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426172" cy="1629664"/>
            </a:xfrm>
            <a:custGeom>
              <a:avLst/>
              <a:gdLst/>
              <a:ahLst/>
              <a:cxnLst/>
              <a:rect l="l" t="t" r="r" b="b"/>
              <a:pathLst>
                <a:path w="20426172" h="1629664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20230592" y="0"/>
                  </a:lnTo>
                  <a:cubicBezTo>
                    <a:pt x="20338542" y="0"/>
                    <a:pt x="20426172" y="87503"/>
                    <a:pt x="20426172" y="195580"/>
                  </a:cubicBezTo>
                  <a:lnTo>
                    <a:pt x="20426172" y="1434084"/>
                  </a:lnTo>
                  <a:cubicBezTo>
                    <a:pt x="20426172" y="1542034"/>
                    <a:pt x="20338669" y="1629664"/>
                    <a:pt x="20230592" y="1629664"/>
                  </a:cubicBezTo>
                  <a:lnTo>
                    <a:pt x="195580" y="1629664"/>
                  </a:lnTo>
                  <a:cubicBezTo>
                    <a:pt x="87630" y="1629664"/>
                    <a:pt x="0" y="1542161"/>
                    <a:pt x="0" y="143408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58660" y="6962003"/>
            <a:ext cx="2965542" cy="1222248"/>
            <a:chOff x="0" y="0"/>
            <a:chExt cx="3954056" cy="162966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54018" cy="1629664"/>
            </a:xfrm>
            <a:custGeom>
              <a:avLst/>
              <a:gdLst/>
              <a:ahLst/>
              <a:cxnLst/>
              <a:rect l="l" t="t" r="r" b="b"/>
              <a:pathLst>
                <a:path w="3954018" h="1629664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3758438" y="0"/>
                  </a:lnTo>
                  <a:cubicBezTo>
                    <a:pt x="3866388" y="0"/>
                    <a:pt x="3954018" y="87503"/>
                    <a:pt x="3954018" y="195580"/>
                  </a:cubicBezTo>
                  <a:lnTo>
                    <a:pt x="3954018" y="1434084"/>
                  </a:lnTo>
                  <a:cubicBezTo>
                    <a:pt x="3954018" y="1542034"/>
                    <a:pt x="3866515" y="1629664"/>
                    <a:pt x="3758438" y="1629664"/>
                  </a:cubicBezTo>
                  <a:lnTo>
                    <a:pt x="195580" y="1629664"/>
                  </a:lnTo>
                  <a:cubicBezTo>
                    <a:pt x="87630" y="1629664"/>
                    <a:pt x="0" y="1542161"/>
                    <a:pt x="0" y="1434084"/>
                  </a:cubicBezTo>
                  <a:close/>
                </a:path>
              </a:pathLst>
            </a:custGeom>
            <a:solidFill>
              <a:srgbClr val="239B73"/>
            </a:solidFill>
            <a:ln w="14299" cap="sq">
              <a:solidFill>
                <a:srgbClr val="239B7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047681" y="7345547"/>
            <a:ext cx="15875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LƯU TRỮ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34066" y="7166453"/>
            <a:ext cx="3166934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Microsoft SQL Server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34065" y="7629415"/>
            <a:ext cx="4788165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Lưu </a:t>
            </a:r>
            <a:r>
              <a:rPr lang="en-US" sz="2499" dirty="0" err="1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tài</a:t>
            </a:r>
            <a:r>
              <a:rPr lang="en-US" sz="2499" dirty="0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khoản</a:t>
            </a:r>
            <a:r>
              <a:rPr lang="en-US" sz="2499" dirty="0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và</a:t>
            </a:r>
            <a:r>
              <a:rPr lang="en-US" sz="2499" dirty="0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dữ</a:t>
            </a:r>
            <a:r>
              <a:rPr lang="en-US" sz="2499" dirty="0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liệu</a:t>
            </a:r>
            <a:r>
              <a:rPr lang="en-US" sz="2499" dirty="0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nghiệp</a:t>
            </a:r>
            <a:r>
              <a:rPr lang="en-US" sz="2499" dirty="0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vụ</a:t>
            </a:r>
            <a:endParaRPr lang="en-US" sz="2499" dirty="0">
              <a:solidFill>
                <a:srgbClr val="5E7188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768145" y="8851001"/>
            <a:ext cx="147517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Biểu đồ: Chart.js 3.9.1  •  Xác thực: Cookie Authentication  •  Băm mật khẩu: BCrypt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45" y="746836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KIẾN TRÚC MVC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31467" y="1558366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9670" y="2745207"/>
            <a:ext cx="4475483" cy="3102807"/>
            <a:chOff x="0" y="0"/>
            <a:chExt cx="5967311" cy="41370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7349" cy="4137025"/>
            </a:xfrm>
            <a:custGeom>
              <a:avLst/>
              <a:gdLst/>
              <a:ahLst/>
              <a:cxnLst/>
              <a:rect l="l" t="t" r="r" b="b"/>
              <a:pathLst>
                <a:path w="5967349" h="4137025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lnTo>
                    <a:pt x="5470906" y="0"/>
                  </a:lnTo>
                  <a:cubicBezTo>
                    <a:pt x="5745099" y="0"/>
                    <a:pt x="5967349" y="222250"/>
                    <a:pt x="5967349" y="496443"/>
                  </a:cubicBezTo>
                  <a:lnTo>
                    <a:pt x="5967349" y="3640582"/>
                  </a:lnTo>
                  <a:cubicBezTo>
                    <a:pt x="5967349" y="3914775"/>
                    <a:pt x="5745099" y="4137025"/>
                    <a:pt x="5470906" y="4137025"/>
                  </a:cubicBezTo>
                  <a:lnTo>
                    <a:pt x="496443" y="4137025"/>
                  </a:lnTo>
                  <a:cubicBezTo>
                    <a:pt x="222250" y="4137025"/>
                    <a:pt x="0" y="3914775"/>
                    <a:pt x="0" y="36405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09670" y="2745207"/>
            <a:ext cx="110385" cy="3102807"/>
            <a:chOff x="0" y="0"/>
            <a:chExt cx="147180" cy="41370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7193" cy="4137025"/>
            </a:xfrm>
            <a:custGeom>
              <a:avLst/>
              <a:gdLst/>
              <a:ahLst/>
              <a:cxnLst/>
              <a:rect l="l" t="t" r="r" b="b"/>
              <a:pathLst>
                <a:path w="147193" h="4137025">
                  <a:moveTo>
                    <a:pt x="0" y="0"/>
                  </a:moveTo>
                  <a:lnTo>
                    <a:pt x="147193" y="0"/>
                  </a:lnTo>
                  <a:lnTo>
                    <a:pt x="147193" y="4137025"/>
                  </a:lnTo>
                  <a:lnTo>
                    <a:pt x="0" y="4137025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27928" y="3022290"/>
            <a:ext cx="1443871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7929" y="3678095"/>
            <a:ext cx="386641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Thực thể dữ liệu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Logic nghiệp vụ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Quy tắc và trạng thái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906258" y="2745207"/>
            <a:ext cx="4475483" cy="3102807"/>
            <a:chOff x="0" y="0"/>
            <a:chExt cx="5967311" cy="41370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7349" cy="4137025"/>
            </a:xfrm>
            <a:custGeom>
              <a:avLst/>
              <a:gdLst/>
              <a:ahLst/>
              <a:cxnLst/>
              <a:rect l="l" t="t" r="r" b="b"/>
              <a:pathLst>
                <a:path w="5967349" h="4137025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lnTo>
                    <a:pt x="5470906" y="0"/>
                  </a:lnTo>
                  <a:cubicBezTo>
                    <a:pt x="5745099" y="0"/>
                    <a:pt x="5967349" y="222250"/>
                    <a:pt x="5967349" y="496443"/>
                  </a:cubicBezTo>
                  <a:lnTo>
                    <a:pt x="5967349" y="3640582"/>
                  </a:lnTo>
                  <a:cubicBezTo>
                    <a:pt x="5967349" y="3914775"/>
                    <a:pt x="5745099" y="4137025"/>
                    <a:pt x="5470906" y="4137025"/>
                  </a:cubicBezTo>
                  <a:lnTo>
                    <a:pt x="496443" y="4137025"/>
                  </a:lnTo>
                  <a:cubicBezTo>
                    <a:pt x="222250" y="4137025"/>
                    <a:pt x="0" y="3914775"/>
                    <a:pt x="0" y="36405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06258" y="2745207"/>
            <a:ext cx="110385" cy="3102807"/>
            <a:chOff x="0" y="0"/>
            <a:chExt cx="147180" cy="41370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7193" cy="4137025"/>
            </a:xfrm>
            <a:custGeom>
              <a:avLst/>
              <a:gdLst/>
              <a:ahLst/>
              <a:cxnLst/>
              <a:rect l="l" t="t" r="r" b="b"/>
              <a:pathLst>
                <a:path w="147193" h="4137025">
                  <a:moveTo>
                    <a:pt x="0" y="0"/>
                  </a:moveTo>
                  <a:lnTo>
                    <a:pt x="147193" y="0"/>
                  </a:lnTo>
                  <a:lnTo>
                    <a:pt x="147193" y="4137025"/>
                  </a:lnTo>
                  <a:lnTo>
                    <a:pt x="0" y="4137025"/>
                  </a:ln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224517" y="3022290"/>
            <a:ext cx="239024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CONTROLLER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24517" y="3678095"/>
            <a:ext cx="386641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Nhận HTTP request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Kiểm tra dữ liệu &amp; quyền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Điều phối nghiệp vụ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602847" y="2745207"/>
            <a:ext cx="4475483" cy="3102807"/>
            <a:chOff x="0" y="0"/>
            <a:chExt cx="5967311" cy="41370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67349" cy="4137025"/>
            </a:xfrm>
            <a:custGeom>
              <a:avLst/>
              <a:gdLst/>
              <a:ahLst/>
              <a:cxnLst/>
              <a:rect l="l" t="t" r="r" b="b"/>
              <a:pathLst>
                <a:path w="5967349" h="4137025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lnTo>
                    <a:pt x="5470906" y="0"/>
                  </a:lnTo>
                  <a:cubicBezTo>
                    <a:pt x="5745099" y="0"/>
                    <a:pt x="5967349" y="222250"/>
                    <a:pt x="5967349" y="496443"/>
                  </a:cubicBezTo>
                  <a:lnTo>
                    <a:pt x="5967349" y="3640582"/>
                  </a:lnTo>
                  <a:cubicBezTo>
                    <a:pt x="5967349" y="3914775"/>
                    <a:pt x="5745099" y="4137025"/>
                    <a:pt x="5470906" y="4137025"/>
                  </a:cubicBezTo>
                  <a:lnTo>
                    <a:pt x="496443" y="4137025"/>
                  </a:lnTo>
                  <a:cubicBezTo>
                    <a:pt x="222250" y="4137025"/>
                    <a:pt x="0" y="3914775"/>
                    <a:pt x="0" y="36405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2847" y="2745207"/>
            <a:ext cx="110385" cy="3102807"/>
            <a:chOff x="0" y="0"/>
            <a:chExt cx="147180" cy="41370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7193" cy="4137025"/>
            </a:xfrm>
            <a:custGeom>
              <a:avLst/>
              <a:gdLst/>
              <a:ahLst/>
              <a:cxnLst/>
              <a:rect l="l" t="t" r="r" b="b"/>
              <a:pathLst>
                <a:path w="147193" h="4137025">
                  <a:moveTo>
                    <a:pt x="0" y="0"/>
                  </a:moveTo>
                  <a:lnTo>
                    <a:pt x="147193" y="0"/>
                  </a:lnTo>
                  <a:lnTo>
                    <a:pt x="147193" y="4137025"/>
                  </a:lnTo>
                  <a:lnTo>
                    <a:pt x="0" y="4137025"/>
                  </a:lnTo>
                  <a:close/>
                </a:path>
              </a:pathLst>
            </a:custGeom>
            <a:solidFill>
              <a:srgbClr val="6E68CD"/>
            </a:solidFill>
            <a:ln w="14299" cap="sq">
              <a:solidFill>
                <a:srgbClr val="6E68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921105" y="3022290"/>
            <a:ext cx="1209885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21105" y="3678095"/>
            <a:ext cx="386641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Razor View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Kết xuất HTML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Hiển thị dữ liệu</a:t>
            </a:r>
          </a:p>
        </p:txBody>
      </p:sp>
      <p:sp>
        <p:nvSpPr>
          <p:cNvPr id="23" name="AutoShape 23"/>
          <p:cNvSpPr/>
          <p:nvPr/>
        </p:nvSpPr>
        <p:spPr>
          <a:xfrm>
            <a:off x="5658940" y="3694168"/>
            <a:ext cx="1273531" cy="38131"/>
          </a:xfrm>
          <a:prstGeom prst="line">
            <a:avLst/>
          </a:prstGeom>
          <a:ln w="19050" cap="rnd">
            <a:solidFill>
              <a:srgbClr val="1C64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11355528" y="3694168"/>
            <a:ext cx="1273531" cy="38131"/>
          </a:xfrm>
          <a:prstGeom prst="line">
            <a:avLst/>
          </a:prstGeom>
          <a:ln w="19050" cap="rnd">
            <a:solidFill>
              <a:srgbClr val="1C64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714576" y="3232392"/>
            <a:ext cx="11622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5E7188"/>
                </a:solidFill>
                <a:latin typeface="Aptos Bold"/>
                <a:ea typeface="Aptos Bold"/>
                <a:cs typeface="Aptos Bold"/>
                <a:sym typeface="Aptos Bold"/>
              </a:rPr>
              <a:t>Dữ liệu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11164" y="3232392"/>
            <a:ext cx="11622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5E7188"/>
                </a:solidFill>
                <a:latin typeface="Aptos Bold"/>
                <a:ea typeface="Aptos Bold"/>
                <a:cs typeface="Aptos Bold"/>
                <a:sym typeface="Aptos Bold"/>
              </a:rPr>
              <a:t>Hiển thị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724420" y="7008185"/>
            <a:ext cx="14839159" cy="949964"/>
            <a:chOff x="0" y="0"/>
            <a:chExt cx="19785546" cy="12666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785456" cy="1266585"/>
            </a:xfrm>
            <a:custGeom>
              <a:avLst/>
              <a:gdLst/>
              <a:ahLst/>
              <a:cxnLst/>
              <a:rect l="l" t="t" r="r" b="b"/>
              <a:pathLst>
                <a:path w="19785456" h="1266585">
                  <a:moveTo>
                    <a:pt x="0" y="151962"/>
                  </a:moveTo>
                  <a:cubicBezTo>
                    <a:pt x="0" y="68022"/>
                    <a:pt x="99314" y="0"/>
                    <a:pt x="221869" y="0"/>
                  </a:cubicBezTo>
                  <a:lnTo>
                    <a:pt x="19563587" y="0"/>
                  </a:lnTo>
                  <a:cubicBezTo>
                    <a:pt x="19686143" y="0"/>
                    <a:pt x="19785456" y="68022"/>
                    <a:pt x="19785456" y="151962"/>
                  </a:cubicBezTo>
                  <a:lnTo>
                    <a:pt x="19785456" y="1114622"/>
                  </a:lnTo>
                  <a:cubicBezTo>
                    <a:pt x="19785456" y="1198562"/>
                    <a:pt x="19686143" y="1266585"/>
                    <a:pt x="19563587" y="1266585"/>
                  </a:cubicBezTo>
                  <a:lnTo>
                    <a:pt x="221869" y="1266585"/>
                  </a:lnTo>
                  <a:cubicBezTo>
                    <a:pt x="99314" y="1266585"/>
                    <a:pt x="0" y="1198562"/>
                    <a:pt x="0" y="1114622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4120348" y="7306955"/>
            <a:ext cx="1001064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Phân tách trách nhiệm giúp mã nguồn dễ bảo trì, mở rộng và kiểm thử.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5168"/>
            <a:ext cx="1002621" cy="89792"/>
            <a:chOff x="0" y="0"/>
            <a:chExt cx="1336827" cy="119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2700" y="2287382"/>
            <a:ext cx="7769895" cy="6465856"/>
            <a:chOff x="0" y="0"/>
            <a:chExt cx="10359860" cy="862114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359860" cy="8621141"/>
              <a:chOff x="0" y="0"/>
              <a:chExt cx="10359860" cy="8621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0359899" cy="8621141"/>
              </a:xfrm>
              <a:custGeom>
                <a:avLst/>
                <a:gdLst/>
                <a:ahLst/>
                <a:cxnLst/>
                <a:rect l="l" t="t" r="r" b="b"/>
                <a:pathLst>
                  <a:path w="10359899" h="8621141">
                    <a:moveTo>
                      <a:pt x="0" y="1034542"/>
                    </a:moveTo>
                    <a:cubicBezTo>
                      <a:pt x="0" y="463169"/>
                      <a:pt x="463169" y="0"/>
                      <a:pt x="1034542" y="0"/>
                    </a:cubicBezTo>
                    <a:lnTo>
                      <a:pt x="9325356" y="0"/>
                    </a:lnTo>
                    <a:cubicBezTo>
                      <a:pt x="9896729" y="0"/>
                      <a:pt x="10359899" y="463169"/>
                      <a:pt x="10359899" y="1034542"/>
                    </a:cubicBezTo>
                    <a:lnTo>
                      <a:pt x="10359899" y="7586599"/>
                    </a:lnTo>
                    <a:cubicBezTo>
                      <a:pt x="10359899" y="8157972"/>
                      <a:pt x="9896729" y="8621141"/>
                      <a:pt x="9325356" y="8621141"/>
                    </a:cubicBezTo>
                    <a:lnTo>
                      <a:pt x="1034542" y="8621141"/>
                    </a:lnTo>
                    <a:cubicBezTo>
                      <a:pt x="463169" y="8621141"/>
                      <a:pt x="0" y="8157972"/>
                      <a:pt x="0" y="75865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070297" cy="8621141"/>
              <a:chOff x="0" y="0"/>
              <a:chExt cx="211417" cy="170294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11417" cy="1702941"/>
              </a:xfrm>
              <a:custGeom>
                <a:avLst/>
                <a:gdLst/>
                <a:ahLst/>
                <a:cxnLst/>
                <a:rect l="l" t="t" r="r" b="b"/>
                <a:pathLst>
                  <a:path w="211417" h="1702941">
                    <a:moveTo>
                      <a:pt x="0" y="0"/>
                    </a:moveTo>
                    <a:lnTo>
                      <a:pt x="211417" y="0"/>
                    </a:lnTo>
                    <a:lnTo>
                      <a:pt x="211417" y="1702941"/>
                    </a:lnTo>
                    <a:lnTo>
                      <a:pt x="0" y="1702941"/>
                    </a:ln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9525"/>
                <a:ext cx="211417" cy="1693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147180" cy="8621141"/>
              <a:chOff x="0" y="0"/>
              <a:chExt cx="147180" cy="862114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7193" cy="8621141"/>
              </a:xfrm>
              <a:custGeom>
                <a:avLst/>
                <a:gdLst/>
                <a:ahLst/>
                <a:cxnLst/>
                <a:rect l="l" t="t" r="r" b="b"/>
                <a:pathLst>
                  <a:path w="147193" h="8621141">
                    <a:moveTo>
                      <a:pt x="0" y="0"/>
                    </a:moveTo>
                    <a:lnTo>
                      <a:pt x="147193" y="0"/>
                    </a:lnTo>
                    <a:lnTo>
                      <a:pt x="147193" y="8621141"/>
                    </a:lnTo>
                    <a:lnTo>
                      <a:pt x="0" y="8621141"/>
                    </a:lnTo>
                    <a:close/>
                  </a:path>
                </a:pathLst>
              </a:custGeom>
              <a:solidFill>
                <a:srgbClr val="1C64BE"/>
              </a:solidFill>
              <a:ln w="14299" cap="sq">
                <a:solidFill>
                  <a:srgbClr val="1C64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705329" y="20320"/>
              <a:ext cx="457200" cy="8577580"/>
              <a:chOff x="0" y="0"/>
              <a:chExt cx="90311" cy="169433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0311" cy="1694337"/>
              </a:xfrm>
              <a:custGeom>
                <a:avLst/>
                <a:gdLst/>
                <a:ahLst/>
                <a:cxnLst/>
                <a:rect l="l" t="t" r="r" b="b"/>
                <a:pathLst>
                  <a:path w="90311" h="1694337">
                    <a:moveTo>
                      <a:pt x="0" y="0"/>
                    </a:moveTo>
                    <a:lnTo>
                      <a:pt x="90311" y="0"/>
                    </a:lnTo>
                    <a:lnTo>
                      <a:pt x="90311" y="1694337"/>
                    </a:lnTo>
                    <a:lnTo>
                      <a:pt x="0" y="169433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9525"/>
                <a:ext cx="90311" cy="16848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044978" y="743638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YÊU CẦU HỆ THỐNG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99470" y="2287382"/>
            <a:ext cx="7769895" cy="6465856"/>
            <a:chOff x="0" y="0"/>
            <a:chExt cx="10359860" cy="862114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359860" cy="8621141"/>
              <a:chOff x="0" y="0"/>
              <a:chExt cx="10359860" cy="862114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359899" cy="8621141"/>
              </a:xfrm>
              <a:custGeom>
                <a:avLst/>
                <a:gdLst/>
                <a:ahLst/>
                <a:cxnLst/>
                <a:rect l="l" t="t" r="r" b="b"/>
                <a:pathLst>
                  <a:path w="10359899" h="8621141">
                    <a:moveTo>
                      <a:pt x="0" y="1034542"/>
                    </a:moveTo>
                    <a:cubicBezTo>
                      <a:pt x="0" y="463169"/>
                      <a:pt x="463169" y="0"/>
                      <a:pt x="1034542" y="0"/>
                    </a:cubicBezTo>
                    <a:lnTo>
                      <a:pt x="9325356" y="0"/>
                    </a:lnTo>
                    <a:cubicBezTo>
                      <a:pt x="9896729" y="0"/>
                      <a:pt x="10359899" y="463169"/>
                      <a:pt x="10359899" y="1034542"/>
                    </a:cubicBezTo>
                    <a:lnTo>
                      <a:pt x="10359899" y="7586599"/>
                    </a:lnTo>
                    <a:cubicBezTo>
                      <a:pt x="10359899" y="8157972"/>
                      <a:pt x="9896729" y="8621141"/>
                      <a:pt x="9325356" y="8621141"/>
                    </a:cubicBezTo>
                    <a:lnTo>
                      <a:pt x="1034542" y="8621141"/>
                    </a:lnTo>
                    <a:cubicBezTo>
                      <a:pt x="463169" y="8621141"/>
                      <a:pt x="0" y="8157972"/>
                      <a:pt x="0" y="75865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1070297" cy="8621141"/>
              <a:chOff x="0" y="0"/>
              <a:chExt cx="211417" cy="170294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11417" cy="1702941"/>
              </a:xfrm>
              <a:custGeom>
                <a:avLst/>
                <a:gdLst/>
                <a:ahLst/>
                <a:cxnLst/>
                <a:rect l="l" t="t" r="r" b="b"/>
                <a:pathLst>
                  <a:path w="211417" h="1702941">
                    <a:moveTo>
                      <a:pt x="0" y="0"/>
                    </a:moveTo>
                    <a:lnTo>
                      <a:pt x="211417" y="0"/>
                    </a:lnTo>
                    <a:lnTo>
                      <a:pt x="211417" y="1702941"/>
                    </a:lnTo>
                    <a:lnTo>
                      <a:pt x="0" y="1702941"/>
                    </a:ln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9525"/>
                <a:ext cx="211417" cy="1693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05329" y="20320"/>
              <a:ext cx="457200" cy="8577580"/>
              <a:chOff x="0" y="0"/>
              <a:chExt cx="90311" cy="169433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0311" cy="1694337"/>
              </a:xfrm>
              <a:custGeom>
                <a:avLst/>
                <a:gdLst/>
                <a:ahLst/>
                <a:cxnLst/>
                <a:rect l="l" t="t" r="r" b="b"/>
                <a:pathLst>
                  <a:path w="90311" h="1694337">
                    <a:moveTo>
                      <a:pt x="0" y="0"/>
                    </a:moveTo>
                    <a:lnTo>
                      <a:pt x="90311" y="0"/>
                    </a:lnTo>
                    <a:lnTo>
                      <a:pt x="90311" y="1694337"/>
                    </a:lnTo>
                    <a:lnTo>
                      <a:pt x="0" y="169433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9525"/>
                <a:ext cx="90311" cy="16848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0"/>
              <a:ext cx="147180" cy="8621141"/>
              <a:chOff x="0" y="0"/>
              <a:chExt cx="147180" cy="862114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7193" cy="8621141"/>
              </a:xfrm>
              <a:custGeom>
                <a:avLst/>
                <a:gdLst/>
                <a:ahLst/>
                <a:cxnLst/>
                <a:rect l="l" t="t" r="r" b="b"/>
                <a:pathLst>
                  <a:path w="147193" h="8621141">
                    <a:moveTo>
                      <a:pt x="0" y="0"/>
                    </a:moveTo>
                    <a:lnTo>
                      <a:pt x="147193" y="0"/>
                    </a:lnTo>
                    <a:lnTo>
                      <a:pt x="147193" y="8621141"/>
                    </a:lnTo>
                    <a:lnTo>
                      <a:pt x="0" y="8621141"/>
                    </a:lnTo>
                    <a:close/>
                  </a:path>
                </a:pathLst>
              </a:custGeom>
              <a:solidFill>
                <a:srgbClr val="49B0DC"/>
              </a:solidFill>
              <a:ln w="14299" cap="sq">
                <a:solidFill>
                  <a:srgbClr val="49B0D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1257232" y="2666257"/>
            <a:ext cx="4305367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YÊU CẦU CHỨC NĂNG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7233" y="3293487"/>
            <a:ext cx="7160828" cy="444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Đăng ký, đăng nhập, đăng xuất, đổi / khôi phục mật khẩu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Quản lý ví và danh mục thu – chi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Thêm, sửa, xóa, lọc giao dịch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Thiết lập ngân sách theo danh mục và tháng/năm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Dashboard, biểu đồ và báo cáo thu chi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Hỗ trợ lọc và phân trang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04002" y="2666257"/>
            <a:ext cx="4926397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YÊU CẦU PHI CHỨC NĂNG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04003" y="3293487"/>
            <a:ext cx="7160828" cy="407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Băm mật khẩu và giới hạn đăng nhập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Phân quyền dữ liệu theo UserId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Chống CSRF bằng Antiforgery Token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Kiểm tra dữ liệu phía máy chủ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Giao diện responsive, dễ sử dụng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Đảm bảo nhất quán giữa giao dịch, ví và ngân sách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6006" y="5509131"/>
            <a:ext cx="1002621" cy="89792"/>
            <a:chOff x="0" y="0"/>
            <a:chExt cx="1336827" cy="119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081335" y="432760"/>
            <a:ext cx="5670553" cy="9421479"/>
          </a:xfrm>
          <a:custGeom>
            <a:avLst/>
            <a:gdLst/>
            <a:ahLst/>
            <a:cxnLst/>
            <a:rect l="l" t="t" r="r" b="b"/>
            <a:pathLst>
              <a:path w="5670553" h="9421479">
                <a:moveTo>
                  <a:pt x="0" y="0"/>
                </a:moveTo>
                <a:lnTo>
                  <a:pt x="5670553" y="0"/>
                </a:lnTo>
                <a:lnTo>
                  <a:pt x="5670553" y="9421480"/>
                </a:lnTo>
                <a:lnTo>
                  <a:pt x="0" y="94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322284" y="4697601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NHÓM CHỨC NĂNG CHÍNH / USE CASE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2A4D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6256"/>
            <a:ext cx="1002621" cy="89792"/>
            <a:chOff x="0" y="0"/>
            <a:chExt cx="1336827" cy="119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4978" y="744726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THIẾT KẾ CƠ SỞ DỮ LIỆU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184131-6C35-0587-069C-519AF55E4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660508"/>
            <a:ext cx="13096034" cy="73665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45" y="737311"/>
            <a:ext cx="16124387" cy="64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LUỒNG NGHIỆP VỤ THU – CHI – CHUYỂN TIỀN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31467" y="1558366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8258" y="2257758"/>
            <a:ext cx="5024552" cy="3102807"/>
            <a:chOff x="0" y="0"/>
            <a:chExt cx="6699402" cy="41370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99377" cy="4137025"/>
            </a:xfrm>
            <a:custGeom>
              <a:avLst/>
              <a:gdLst/>
              <a:ahLst/>
              <a:cxnLst/>
              <a:rect l="l" t="t" r="r" b="b"/>
              <a:pathLst>
                <a:path w="6699377" h="4137025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lnTo>
                    <a:pt x="6202934" y="0"/>
                  </a:lnTo>
                  <a:cubicBezTo>
                    <a:pt x="6477127" y="0"/>
                    <a:pt x="6699377" y="222250"/>
                    <a:pt x="6699377" y="496443"/>
                  </a:cubicBezTo>
                  <a:lnTo>
                    <a:pt x="6699377" y="3640582"/>
                  </a:lnTo>
                  <a:cubicBezTo>
                    <a:pt x="6699377" y="3914775"/>
                    <a:pt x="6477127" y="4137025"/>
                    <a:pt x="6202934" y="4137025"/>
                  </a:cubicBezTo>
                  <a:lnTo>
                    <a:pt x="496443" y="4137025"/>
                  </a:lnTo>
                  <a:cubicBezTo>
                    <a:pt x="222250" y="4137025"/>
                    <a:pt x="0" y="3914775"/>
                    <a:pt x="0" y="36405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71425" y="2669562"/>
            <a:ext cx="673179" cy="673179"/>
            <a:chOff x="0" y="0"/>
            <a:chExt cx="897572" cy="8975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97636" cy="897636"/>
            </a:xfrm>
            <a:custGeom>
              <a:avLst/>
              <a:gdLst/>
              <a:ahLst/>
              <a:cxnLst/>
              <a:rect l="l" t="t" r="r" b="b"/>
              <a:pathLst>
                <a:path w="897636" h="897636">
                  <a:moveTo>
                    <a:pt x="0" y="448818"/>
                  </a:moveTo>
                  <a:cubicBezTo>
                    <a:pt x="0" y="200914"/>
                    <a:pt x="200914" y="0"/>
                    <a:pt x="448818" y="0"/>
                  </a:cubicBezTo>
                  <a:cubicBezTo>
                    <a:pt x="696722" y="0"/>
                    <a:pt x="897636" y="200914"/>
                    <a:pt x="897636" y="448818"/>
                  </a:cubicBezTo>
                  <a:cubicBezTo>
                    <a:pt x="897636" y="696722"/>
                    <a:pt x="696595" y="897636"/>
                    <a:pt x="448818" y="897636"/>
                  </a:cubicBezTo>
                  <a:cubicBezTo>
                    <a:pt x="201041" y="897636"/>
                    <a:pt x="0" y="696595"/>
                    <a:pt x="0" y="448818"/>
                  </a:cubicBezTo>
                  <a:close/>
                </a:path>
              </a:pathLst>
            </a:custGeom>
            <a:solidFill>
              <a:srgbClr val="239B73"/>
            </a:solidFill>
            <a:ln w="14299" cap="sq">
              <a:solidFill>
                <a:srgbClr val="239B7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50495" y="2829939"/>
            <a:ext cx="152733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THU NHẬP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5149" y="3580562"/>
            <a:ext cx="425076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239B73"/>
                </a:solidFill>
                <a:latin typeface="Aptos Bold"/>
                <a:ea typeface="Aptos Bold"/>
                <a:cs typeface="Aptos Bold"/>
                <a:sym typeface="Aptos Bold"/>
              </a:rPr>
              <a:t>+ Số dư ví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3787" y="4228262"/>
            <a:ext cx="4113495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Ghi nhận khoản tiền làm tăng số dư ví.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924846" y="2257758"/>
            <a:ext cx="5024552" cy="3102807"/>
            <a:chOff x="0" y="0"/>
            <a:chExt cx="6699402" cy="41370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99377" cy="4137025"/>
            </a:xfrm>
            <a:custGeom>
              <a:avLst/>
              <a:gdLst/>
              <a:ahLst/>
              <a:cxnLst/>
              <a:rect l="l" t="t" r="r" b="b"/>
              <a:pathLst>
                <a:path w="6699377" h="4137025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lnTo>
                    <a:pt x="6202934" y="0"/>
                  </a:lnTo>
                  <a:cubicBezTo>
                    <a:pt x="6477127" y="0"/>
                    <a:pt x="6699377" y="222250"/>
                    <a:pt x="6699377" y="496443"/>
                  </a:cubicBezTo>
                  <a:lnTo>
                    <a:pt x="6699377" y="3640582"/>
                  </a:lnTo>
                  <a:cubicBezTo>
                    <a:pt x="6699377" y="3914775"/>
                    <a:pt x="6477127" y="4137025"/>
                    <a:pt x="6202934" y="4137025"/>
                  </a:cubicBezTo>
                  <a:lnTo>
                    <a:pt x="496443" y="4137025"/>
                  </a:lnTo>
                  <a:cubicBezTo>
                    <a:pt x="222250" y="4137025"/>
                    <a:pt x="0" y="3914775"/>
                    <a:pt x="0" y="36405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68013" y="2669562"/>
            <a:ext cx="673179" cy="673179"/>
            <a:chOff x="0" y="0"/>
            <a:chExt cx="897572" cy="8975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7636" cy="897636"/>
            </a:xfrm>
            <a:custGeom>
              <a:avLst/>
              <a:gdLst/>
              <a:ahLst/>
              <a:cxnLst/>
              <a:rect l="l" t="t" r="r" b="b"/>
              <a:pathLst>
                <a:path w="897636" h="897636">
                  <a:moveTo>
                    <a:pt x="0" y="448818"/>
                  </a:moveTo>
                  <a:cubicBezTo>
                    <a:pt x="0" y="200914"/>
                    <a:pt x="200914" y="0"/>
                    <a:pt x="448818" y="0"/>
                  </a:cubicBezTo>
                  <a:cubicBezTo>
                    <a:pt x="696722" y="0"/>
                    <a:pt x="897636" y="200914"/>
                    <a:pt x="897636" y="448818"/>
                  </a:cubicBezTo>
                  <a:cubicBezTo>
                    <a:pt x="897636" y="696722"/>
                    <a:pt x="696595" y="897636"/>
                    <a:pt x="448818" y="897636"/>
                  </a:cubicBezTo>
                  <a:cubicBezTo>
                    <a:pt x="201041" y="897636"/>
                    <a:pt x="0" y="696595"/>
                    <a:pt x="0" y="448818"/>
                  </a:cubicBezTo>
                  <a:close/>
                </a:path>
              </a:pathLst>
            </a:custGeom>
            <a:solidFill>
              <a:srgbClr val="D8575C"/>
            </a:solidFill>
            <a:ln w="14299" cap="sq">
              <a:solidFill>
                <a:srgbClr val="D8575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245992" y="2829939"/>
            <a:ext cx="1279007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CHI TIÊU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1738" y="3580562"/>
            <a:ext cx="425076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D8575C"/>
                </a:solidFill>
                <a:latin typeface="Aptos Bold"/>
                <a:ea typeface="Aptos Bold"/>
                <a:cs typeface="Aptos Bold"/>
                <a:sym typeface="Aptos Bold"/>
              </a:rPr>
              <a:t>− Số dư ví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80375" y="4228262"/>
            <a:ext cx="4113495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Ghi nhận khoản chi và cập nhật ngân sách phù hợp.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621435" y="2257758"/>
            <a:ext cx="5024552" cy="3102807"/>
            <a:chOff x="0" y="0"/>
            <a:chExt cx="6699402" cy="41370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99377" cy="4137025"/>
            </a:xfrm>
            <a:custGeom>
              <a:avLst/>
              <a:gdLst/>
              <a:ahLst/>
              <a:cxnLst/>
              <a:rect l="l" t="t" r="r" b="b"/>
              <a:pathLst>
                <a:path w="6699377" h="4137025">
                  <a:moveTo>
                    <a:pt x="0" y="496443"/>
                  </a:moveTo>
                  <a:cubicBezTo>
                    <a:pt x="0" y="222250"/>
                    <a:pt x="222250" y="0"/>
                    <a:pt x="496443" y="0"/>
                  </a:cubicBezTo>
                  <a:lnTo>
                    <a:pt x="6202934" y="0"/>
                  </a:lnTo>
                  <a:cubicBezTo>
                    <a:pt x="6477127" y="0"/>
                    <a:pt x="6699377" y="222250"/>
                    <a:pt x="6699377" y="496443"/>
                  </a:cubicBezTo>
                  <a:lnTo>
                    <a:pt x="6699377" y="3640582"/>
                  </a:lnTo>
                  <a:cubicBezTo>
                    <a:pt x="6699377" y="3914775"/>
                    <a:pt x="6477127" y="4137025"/>
                    <a:pt x="6202934" y="4137025"/>
                  </a:cubicBezTo>
                  <a:lnTo>
                    <a:pt x="496443" y="4137025"/>
                  </a:lnTo>
                  <a:cubicBezTo>
                    <a:pt x="222250" y="4137025"/>
                    <a:pt x="0" y="3914775"/>
                    <a:pt x="0" y="36405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964601" y="2669562"/>
            <a:ext cx="673179" cy="673179"/>
            <a:chOff x="0" y="0"/>
            <a:chExt cx="897572" cy="8975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97636" cy="897636"/>
            </a:xfrm>
            <a:custGeom>
              <a:avLst/>
              <a:gdLst/>
              <a:ahLst/>
              <a:cxnLst/>
              <a:rect l="l" t="t" r="r" b="b"/>
              <a:pathLst>
                <a:path w="897636" h="897636">
                  <a:moveTo>
                    <a:pt x="0" y="448818"/>
                  </a:moveTo>
                  <a:cubicBezTo>
                    <a:pt x="0" y="200914"/>
                    <a:pt x="200914" y="0"/>
                    <a:pt x="448818" y="0"/>
                  </a:cubicBezTo>
                  <a:cubicBezTo>
                    <a:pt x="696722" y="0"/>
                    <a:pt x="897636" y="200914"/>
                    <a:pt x="897636" y="448818"/>
                  </a:cubicBezTo>
                  <a:cubicBezTo>
                    <a:pt x="897636" y="696722"/>
                    <a:pt x="696595" y="897636"/>
                    <a:pt x="448818" y="897636"/>
                  </a:cubicBezTo>
                  <a:cubicBezTo>
                    <a:pt x="201041" y="897636"/>
                    <a:pt x="0" y="696595"/>
                    <a:pt x="0" y="448818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942581" y="2829939"/>
            <a:ext cx="242816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CHUYỂN KHOẢN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08326" y="3580562"/>
            <a:ext cx="425076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C64BE"/>
                </a:solidFill>
                <a:latin typeface="Aptos Bold"/>
                <a:ea typeface="Aptos Bold"/>
                <a:cs typeface="Aptos Bold"/>
                <a:sym typeface="Aptos Bold"/>
              </a:rPr>
              <a:t>Ví nguồn − / ví nhận +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73348" y="4228262"/>
            <a:ext cx="4113495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Chuyển nội bộ, không tính là tổng thu hoặc tổng chi.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53089" y="5911741"/>
            <a:ext cx="15113698" cy="2330084"/>
            <a:chOff x="0" y="0"/>
            <a:chExt cx="20151598" cy="31067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151598" cy="3106471"/>
            </a:xfrm>
            <a:custGeom>
              <a:avLst/>
              <a:gdLst/>
              <a:ahLst/>
              <a:cxnLst/>
              <a:rect l="l" t="t" r="r" b="b"/>
              <a:pathLst>
                <a:path w="20151598" h="3106471">
                  <a:moveTo>
                    <a:pt x="0" y="372710"/>
                  </a:moveTo>
                  <a:cubicBezTo>
                    <a:pt x="0" y="166938"/>
                    <a:pt x="89535" y="0"/>
                    <a:pt x="199898" y="0"/>
                  </a:cubicBezTo>
                  <a:lnTo>
                    <a:pt x="19951700" y="0"/>
                  </a:lnTo>
                  <a:cubicBezTo>
                    <a:pt x="20062189" y="0"/>
                    <a:pt x="20151598" y="166938"/>
                    <a:pt x="20151598" y="372710"/>
                  </a:cubicBezTo>
                  <a:lnTo>
                    <a:pt x="20151598" y="2733761"/>
                  </a:lnTo>
                  <a:cubicBezTo>
                    <a:pt x="20151598" y="2939770"/>
                    <a:pt x="20062062" y="3106471"/>
                    <a:pt x="19951700" y="3106471"/>
                  </a:cubicBezTo>
                  <a:lnTo>
                    <a:pt x="199898" y="3106471"/>
                  </a:lnTo>
                  <a:cubicBezTo>
                    <a:pt x="89535" y="3106708"/>
                    <a:pt x="0" y="2939770"/>
                    <a:pt x="0" y="2733998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024343" y="6098445"/>
            <a:ext cx="14202642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Thêm: ghi nhận giao dịch và cập nhật ví, ngân sách liên quan.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Sửa: hoàn tác tác động cũ trước khi áp dụng thông tin mới.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Xóa: hoàn tác tác động của giao dịch và đánh dấu xóa mềm.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Các cập nhật liên quan được thực hiện trong cùng database transaction.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36777" y="8641875"/>
            <a:ext cx="1461444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Tỷ lệ sử dụng ngân sách = Số đã chi ÷ Hạn mức × 100%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4978" y="744607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XÁC THỰC VÀ BẢO MẬT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556137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8258" y="1845955"/>
            <a:ext cx="7632630" cy="1899628"/>
            <a:chOff x="0" y="0"/>
            <a:chExt cx="10176840" cy="25328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76764" cy="2532750"/>
            </a:xfrm>
            <a:custGeom>
              <a:avLst/>
              <a:gdLst/>
              <a:ahLst/>
              <a:cxnLst/>
              <a:rect l="l" t="t" r="r" b="b"/>
              <a:pathLst>
                <a:path w="10176764" h="2532750">
                  <a:moveTo>
                    <a:pt x="0" y="303907"/>
                  </a:moveTo>
                  <a:cubicBezTo>
                    <a:pt x="0" y="136054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6054"/>
                    <a:pt x="10176764" y="303907"/>
                  </a:cubicBezTo>
                  <a:lnTo>
                    <a:pt x="10176764" y="2228843"/>
                  </a:lnTo>
                  <a:cubicBezTo>
                    <a:pt x="10176764" y="2396696"/>
                    <a:pt x="10057765" y="2532750"/>
                    <a:pt x="9910953" y="2532750"/>
                  </a:cubicBezTo>
                  <a:lnTo>
                    <a:pt x="265811" y="2532750"/>
                  </a:lnTo>
                  <a:cubicBezTo>
                    <a:pt x="118999" y="2532888"/>
                    <a:pt x="0" y="2396696"/>
                    <a:pt x="0" y="222884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8258" y="1845955"/>
            <a:ext cx="110385" cy="1899628"/>
            <a:chOff x="0" y="0"/>
            <a:chExt cx="147180" cy="25328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7193" cy="2532888"/>
            </a:xfrm>
            <a:custGeom>
              <a:avLst/>
              <a:gdLst/>
              <a:ahLst/>
              <a:cxnLst/>
              <a:rect l="l" t="t" r="r" b="b"/>
              <a:pathLst>
                <a:path w="147193" h="2532888">
                  <a:moveTo>
                    <a:pt x="0" y="0"/>
                  </a:moveTo>
                  <a:lnTo>
                    <a:pt x="147193" y="0"/>
                  </a:lnTo>
                  <a:lnTo>
                    <a:pt x="147193" y="2532888"/>
                  </a:lnTo>
                  <a:lnTo>
                    <a:pt x="0" y="2532888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46517" y="2080127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Cookie Authentication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6517" y="2707357"/>
            <a:ext cx="70235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Quản lý phiên đăng nhập; [Authorize] giới hạn chức năng.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32925" y="1845955"/>
            <a:ext cx="7632630" cy="1899628"/>
            <a:chOff x="0" y="0"/>
            <a:chExt cx="10176840" cy="25328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76764" cy="2532750"/>
            </a:xfrm>
            <a:custGeom>
              <a:avLst/>
              <a:gdLst/>
              <a:ahLst/>
              <a:cxnLst/>
              <a:rect l="l" t="t" r="r" b="b"/>
              <a:pathLst>
                <a:path w="10176764" h="2532750">
                  <a:moveTo>
                    <a:pt x="0" y="303907"/>
                  </a:moveTo>
                  <a:cubicBezTo>
                    <a:pt x="0" y="136054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6054"/>
                    <a:pt x="10176764" y="303907"/>
                  </a:cubicBezTo>
                  <a:lnTo>
                    <a:pt x="10176764" y="2228843"/>
                  </a:lnTo>
                  <a:cubicBezTo>
                    <a:pt x="10176764" y="2396696"/>
                    <a:pt x="10057765" y="2532750"/>
                    <a:pt x="9910953" y="2532750"/>
                  </a:cubicBezTo>
                  <a:lnTo>
                    <a:pt x="265811" y="2532750"/>
                  </a:lnTo>
                  <a:cubicBezTo>
                    <a:pt x="118999" y="2532888"/>
                    <a:pt x="0" y="2396696"/>
                    <a:pt x="0" y="222884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32925" y="1845955"/>
            <a:ext cx="110385" cy="1899628"/>
            <a:chOff x="0" y="0"/>
            <a:chExt cx="147180" cy="253283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7193" cy="2532888"/>
            </a:xfrm>
            <a:custGeom>
              <a:avLst/>
              <a:gdLst/>
              <a:ahLst/>
              <a:cxnLst/>
              <a:rect l="l" t="t" r="r" b="b"/>
              <a:pathLst>
                <a:path w="147193" h="2532888">
                  <a:moveTo>
                    <a:pt x="0" y="0"/>
                  </a:moveTo>
                  <a:lnTo>
                    <a:pt x="147193" y="0"/>
                  </a:lnTo>
                  <a:lnTo>
                    <a:pt x="147193" y="2532888"/>
                  </a:lnTo>
                  <a:lnTo>
                    <a:pt x="0" y="2532888"/>
                  </a:ln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851184" y="2080127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BCrypt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51184" y="2707357"/>
            <a:ext cx="70235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Băm mật khẩu với cost factor 12; xác minh bằng BCrypt.Verify.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75352" y="4030742"/>
            <a:ext cx="7632630" cy="1899628"/>
            <a:chOff x="0" y="0"/>
            <a:chExt cx="10176840" cy="25328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76764" cy="2532750"/>
            </a:xfrm>
            <a:custGeom>
              <a:avLst/>
              <a:gdLst/>
              <a:ahLst/>
              <a:cxnLst/>
              <a:rect l="l" t="t" r="r" b="b"/>
              <a:pathLst>
                <a:path w="10176764" h="2532750">
                  <a:moveTo>
                    <a:pt x="0" y="303907"/>
                  </a:moveTo>
                  <a:cubicBezTo>
                    <a:pt x="0" y="136054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6054"/>
                    <a:pt x="10176764" y="303907"/>
                  </a:cubicBezTo>
                  <a:lnTo>
                    <a:pt x="10176764" y="2228843"/>
                  </a:lnTo>
                  <a:cubicBezTo>
                    <a:pt x="10176764" y="2396696"/>
                    <a:pt x="10057765" y="2532750"/>
                    <a:pt x="9910953" y="2532750"/>
                  </a:cubicBezTo>
                  <a:lnTo>
                    <a:pt x="265811" y="2532750"/>
                  </a:lnTo>
                  <a:cubicBezTo>
                    <a:pt x="118999" y="2532888"/>
                    <a:pt x="0" y="2396696"/>
                    <a:pt x="0" y="222884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75352" y="4030742"/>
            <a:ext cx="110385" cy="1899628"/>
            <a:chOff x="0" y="0"/>
            <a:chExt cx="147180" cy="25328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7193" cy="2532888"/>
            </a:xfrm>
            <a:custGeom>
              <a:avLst/>
              <a:gdLst/>
              <a:ahLst/>
              <a:cxnLst/>
              <a:rect l="l" t="t" r="r" b="b"/>
              <a:pathLst>
                <a:path w="147193" h="2532888">
                  <a:moveTo>
                    <a:pt x="0" y="0"/>
                  </a:moveTo>
                  <a:lnTo>
                    <a:pt x="147193" y="0"/>
                  </a:lnTo>
                  <a:lnTo>
                    <a:pt x="147193" y="2532888"/>
                  </a:lnTo>
                  <a:lnTo>
                    <a:pt x="0" y="2532888"/>
                  </a:lnTo>
                  <a:close/>
                </a:path>
              </a:pathLst>
            </a:custGeom>
            <a:solidFill>
              <a:srgbClr val="239B73"/>
            </a:solidFill>
            <a:ln w="14299" cap="sq">
              <a:solidFill>
                <a:srgbClr val="239B7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93610" y="4270438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Khóa đăng nhập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93610" y="4897660"/>
            <a:ext cx="70235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Khóa tài khoản sau 5 lần đăng nhập sai liên tiếp.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80018" y="4030742"/>
            <a:ext cx="7632630" cy="1899628"/>
            <a:chOff x="0" y="0"/>
            <a:chExt cx="10176840" cy="253283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76764" cy="2532750"/>
            </a:xfrm>
            <a:custGeom>
              <a:avLst/>
              <a:gdLst/>
              <a:ahLst/>
              <a:cxnLst/>
              <a:rect l="l" t="t" r="r" b="b"/>
              <a:pathLst>
                <a:path w="10176764" h="2532750">
                  <a:moveTo>
                    <a:pt x="0" y="303907"/>
                  </a:moveTo>
                  <a:cubicBezTo>
                    <a:pt x="0" y="136054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6054"/>
                    <a:pt x="10176764" y="303907"/>
                  </a:cubicBezTo>
                  <a:lnTo>
                    <a:pt x="10176764" y="2228843"/>
                  </a:lnTo>
                  <a:cubicBezTo>
                    <a:pt x="10176764" y="2396696"/>
                    <a:pt x="10057765" y="2532750"/>
                    <a:pt x="9910953" y="2532750"/>
                  </a:cubicBezTo>
                  <a:lnTo>
                    <a:pt x="265811" y="2532750"/>
                  </a:lnTo>
                  <a:cubicBezTo>
                    <a:pt x="118999" y="2532888"/>
                    <a:pt x="0" y="2396696"/>
                    <a:pt x="0" y="222884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80018" y="4030742"/>
            <a:ext cx="110385" cy="1899628"/>
            <a:chOff x="0" y="0"/>
            <a:chExt cx="147180" cy="25328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7193" cy="2532888"/>
            </a:xfrm>
            <a:custGeom>
              <a:avLst/>
              <a:gdLst/>
              <a:ahLst/>
              <a:cxnLst/>
              <a:rect l="l" t="t" r="r" b="b"/>
              <a:pathLst>
                <a:path w="147193" h="2532888">
                  <a:moveTo>
                    <a:pt x="0" y="0"/>
                  </a:moveTo>
                  <a:lnTo>
                    <a:pt x="147193" y="0"/>
                  </a:lnTo>
                  <a:lnTo>
                    <a:pt x="147193" y="2532888"/>
                  </a:lnTo>
                  <a:lnTo>
                    <a:pt x="0" y="2532888"/>
                  </a:lnTo>
                  <a:close/>
                </a:path>
              </a:pathLst>
            </a:custGeom>
            <a:solidFill>
              <a:srgbClr val="6E68CD"/>
            </a:solidFill>
            <a:ln w="14299" cap="sq">
              <a:solidFill>
                <a:srgbClr val="6E68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798277" y="4270438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Quyền sở hữu dữ liệu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98277" y="4897660"/>
            <a:ext cx="70235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Lọc theo UserId và kiểm tra bản ghi thuộc tài khoản hiện tại.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175352" y="6216120"/>
            <a:ext cx="7632630" cy="1899628"/>
            <a:chOff x="0" y="0"/>
            <a:chExt cx="10176840" cy="253283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76764" cy="2532750"/>
            </a:xfrm>
            <a:custGeom>
              <a:avLst/>
              <a:gdLst/>
              <a:ahLst/>
              <a:cxnLst/>
              <a:rect l="l" t="t" r="r" b="b"/>
              <a:pathLst>
                <a:path w="10176764" h="2532750">
                  <a:moveTo>
                    <a:pt x="0" y="303907"/>
                  </a:moveTo>
                  <a:cubicBezTo>
                    <a:pt x="0" y="136054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6054"/>
                    <a:pt x="10176764" y="303907"/>
                  </a:cubicBezTo>
                  <a:lnTo>
                    <a:pt x="10176764" y="2228843"/>
                  </a:lnTo>
                  <a:cubicBezTo>
                    <a:pt x="10176764" y="2396696"/>
                    <a:pt x="10057765" y="2532750"/>
                    <a:pt x="9910953" y="2532750"/>
                  </a:cubicBezTo>
                  <a:lnTo>
                    <a:pt x="265811" y="2532750"/>
                  </a:lnTo>
                  <a:cubicBezTo>
                    <a:pt x="118999" y="2532888"/>
                    <a:pt x="0" y="2396696"/>
                    <a:pt x="0" y="222884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75352" y="6216120"/>
            <a:ext cx="110385" cy="1899628"/>
            <a:chOff x="0" y="0"/>
            <a:chExt cx="147180" cy="25328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7193" cy="2532888"/>
            </a:xfrm>
            <a:custGeom>
              <a:avLst/>
              <a:gdLst/>
              <a:ahLst/>
              <a:cxnLst/>
              <a:rect l="l" t="t" r="r" b="b"/>
              <a:pathLst>
                <a:path w="147193" h="2532888">
                  <a:moveTo>
                    <a:pt x="0" y="0"/>
                  </a:moveTo>
                  <a:lnTo>
                    <a:pt x="147193" y="0"/>
                  </a:lnTo>
                  <a:lnTo>
                    <a:pt x="147193" y="2532888"/>
                  </a:lnTo>
                  <a:lnTo>
                    <a:pt x="0" y="2532888"/>
                  </a:lnTo>
                  <a:close/>
                </a:path>
              </a:pathLst>
            </a:custGeom>
            <a:solidFill>
              <a:srgbClr val="F0A341"/>
            </a:solidFill>
            <a:ln w="14299" cap="sq">
              <a:solidFill>
                <a:srgbClr val="F0A3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93610" y="6455812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Antiforgery Token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93610" y="7083042"/>
            <a:ext cx="70235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Bảo vệ các yêu cầu thay đổi dữ liệu khỏi CSRF.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480018" y="6216120"/>
            <a:ext cx="7632630" cy="1899628"/>
            <a:chOff x="0" y="0"/>
            <a:chExt cx="10176840" cy="253283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76764" cy="2532750"/>
            </a:xfrm>
            <a:custGeom>
              <a:avLst/>
              <a:gdLst/>
              <a:ahLst/>
              <a:cxnLst/>
              <a:rect l="l" t="t" r="r" b="b"/>
              <a:pathLst>
                <a:path w="10176764" h="2532750">
                  <a:moveTo>
                    <a:pt x="0" y="303907"/>
                  </a:moveTo>
                  <a:cubicBezTo>
                    <a:pt x="0" y="136054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6054"/>
                    <a:pt x="10176764" y="303907"/>
                  </a:cubicBezTo>
                  <a:lnTo>
                    <a:pt x="10176764" y="2228843"/>
                  </a:lnTo>
                  <a:cubicBezTo>
                    <a:pt x="10176764" y="2396696"/>
                    <a:pt x="10057765" y="2532750"/>
                    <a:pt x="9910953" y="2532750"/>
                  </a:cubicBezTo>
                  <a:lnTo>
                    <a:pt x="265811" y="2532750"/>
                  </a:lnTo>
                  <a:cubicBezTo>
                    <a:pt x="118999" y="2532888"/>
                    <a:pt x="0" y="2396696"/>
                    <a:pt x="0" y="222884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80018" y="6216120"/>
            <a:ext cx="110385" cy="1899628"/>
            <a:chOff x="0" y="0"/>
            <a:chExt cx="147180" cy="253283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7193" cy="2532888"/>
            </a:xfrm>
            <a:custGeom>
              <a:avLst/>
              <a:gdLst/>
              <a:ahLst/>
              <a:cxnLst/>
              <a:rect l="l" t="t" r="r" b="b"/>
              <a:pathLst>
                <a:path w="147193" h="2532888">
                  <a:moveTo>
                    <a:pt x="0" y="0"/>
                  </a:moveTo>
                  <a:lnTo>
                    <a:pt x="147193" y="0"/>
                  </a:lnTo>
                  <a:lnTo>
                    <a:pt x="147193" y="2532888"/>
                  </a:lnTo>
                  <a:lnTo>
                    <a:pt x="0" y="2532888"/>
                  </a:lnTo>
                  <a:close/>
                </a:path>
              </a:pathLst>
            </a:custGeom>
            <a:solidFill>
              <a:srgbClr val="D8575C"/>
            </a:solidFill>
            <a:ln w="14299" cap="sq">
              <a:solidFill>
                <a:srgbClr val="D8575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798277" y="6455812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Kiểm tra máy chủ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98277" y="7083042"/>
            <a:ext cx="723143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Validation dữ liệu và kiểm tra điều kiện trước thao tác.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4978" y="737045"/>
            <a:ext cx="16124387" cy="64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LUỒNG TÀI KHOẢN NGƯỜI DÙNG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558100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9621" y="2853380"/>
            <a:ext cx="3514611" cy="2347846"/>
            <a:chOff x="0" y="0"/>
            <a:chExt cx="4686148" cy="31304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86173" cy="3130423"/>
            </a:xfrm>
            <a:custGeom>
              <a:avLst/>
              <a:gdLst/>
              <a:ahLst/>
              <a:cxnLst/>
              <a:rect l="l" t="t" r="r" b="b"/>
              <a:pathLst>
                <a:path w="4686173" h="3130423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4310507" y="0"/>
                  </a:lnTo>
                  <a:cubicBezTo>
                    <a:pt x="4518025" y="0"/>
                    <a:pt x="4686173" y="168148"/>
                    <a:pt x="4686173" y="375666"/>
                  </a:cubicBezTo>
                  <a:lnTo>
                    <a:pt x="4686173" y="2754757"/>
                  </a:lnTo>
                  <a:cubicBezTo>
                    <a:pt x="4686173" y="2962275"/>
                    <a:pt x="4518025" y="3130423"/>
                    <a:pt x="4310507" y="3130423"/>
                  </a:cubicBezTo>
                  <a:lnTo>
                    <a:pt x="375666" y="3130423"/>
                  </a:lnTo>
                  <a:cubicBezTo>
                    <a:pt x="168148" y="3130423"/>
                    <a:pt x="0" y="2962275"/>
                    <a:pt x="0" y="275475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63660" y="2372949"/>
            <a:ext cx="865356" cy="865356"/>
            <a:chOff x="0" y="0"/>
            <a:chExt cx="1153808" cy="11538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53795" cy="1153795"/>
            </a:xfrm>
            <a:custGeom>
              <a:avLst/>
              <a:gdLst/>
              <a:ahLst/>
              <a:cxnLst/>
              <a:rect l="l" t="t" r="r" b="b"/>
              <a:pathLst>
                <a:path w="1153795" h="1153795">
                  <a:moveTo>
                    <a:pt x="0" y="576961"/>
                  </a:moveTo>
                  <a:cubicBezTo>
                    <a:pt x="0" y="258318"/>
                    <a:pt x="258318" y="0"/>
                    <a:pt x="576961" y="0"/>
                  </a:cubicBezTo>
                  <a:cubicBezTo>
                    <a:pt x="895604" y="0"/>
                    <a:pt x="1153795" y="258318"/>
                    <a:pt x="1153795" y="576961"/>
                  </a:cubicBezTo>
                  <a:cubicBezTo>
                    <a:pt x="1153795" y="895604"/>
                    <a:pt x="895477" y="1153795"/>
                    <a:pt x="576961" y="1153795"/>
                  </a:cubicBezTo>
                  <a:cubicBezTo>
                    <a:pt x="258445" y="1153795"/>
                    <a:pt x="0" y="895477"/>
                    <a:pt x="0" y="576961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11506" y="2629414"/>
            <a:ext cx="1696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34877" y="3308914"/>
            <a:ext cx="1575123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Đăng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ký</a:t>
            </a:r>
            <a:endParaRPr lang="en-US" sz="3000" b="1" dirty="0">
              <a:solidFill>
                <a:srgbClr val="0F2A4D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7880" y="4004772"/>
            <a:ext cx="287809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Kiểm tra họ tên, email và mật khẩu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710427" y="3995247"/>
            <a:ext cx="695735" cy="53011"/>
          </a:xfrm>
          <a:prstGeom prst="line">
            <a:avLst/>
          </a:prstGeom>
          <a:ln w="19050" cap="rnd">
            <a:solidFill>
              <a:srgbClr val="1C64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5442356" y="2853380"/>
            <a:ext cx="3514611" cy="2347846"/>
            <a:chOff x="0" y="0"/>
            <a:chExt cx="4686148" cy="31304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86173" cy="3130423"/>
            </a:xfrm>
            <a:custGeom>
              <a:avLst/>
              <a:gdLst/>
              <a:ahLst/>
              <a:cxnLst/>
              <a:rect l="l" t="t" r="r" b="b"/>
              <a:pathLst>
                <a:path w="4686173" h="3130423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4310507" y="0"/>
                  </a:lnTo>
                  <a:cubicBezTo>
                    <a:pt x="4518025" y="0"/>
                    <a:pt x="4686173" y="168148"/>
                    <a:pt x="4686173" y="375666"/>
                  </a:cubicBezTo>
                  <a:lnTo>
                    <a:pt x="4686173" y="2754757"/>
                  </a:lnTo>
                  <a:cubicBezTo>
                    <a:pt x="4686173" y="2962275"/>
                    <a:pt x="4518025" y="3130423"/>
                    <a:pt x="4310507" y="3130423"/>
                  </a:cubicBezTo>
                  <a:lnTo>
                    <a:pt x="375666" y="3130423"/>
                  </a:lnTo>
                  <a:cubicBezTo>
                    <a:pt x="168148" y="3130423"/>
                    <a:pt x="0" y="2962275"/>
                    <a:pt x="0" y="275475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46396" y="2372949"/>
            <a:ext cx="865356" cy="865356"/>
            <a:chOff x="0" y="0"/>
            <a:chExt cx="1153808" cy="11538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53795" cy="1153795"/>
            </a:xfrm>
            <a:custGeom>
              <a:avLst/>
              <a:gdLst/>
              <a:ahLst/>
              <a:cxnLst/>
              <a:rect l="l" t="t" r="r" b="b"/>
              <a:pathLst>
                <a:path w="1153795" h="1153795">
                  <a:moveTo>
                    <a:pt x="0" y="576961"/>
                  </a:moveTo>
                  <a:cubicBezTo>
                    <a:pt x="0" y="258318"/>
                    <a:pt x="258318" y="0"/>
                    <a:pt x="576961" y="0"/>
                  </a:cubicBezTo>
                  <a:cubicBezTo>
                    <a:pt x="895604" y="0"/>
                    <a:pt x="1153795" y="258318"/>
                    <a:pt x="1153795" y="576961"/>
                  </a:cubicBezTo>
                  <a:cubicBezTo>
                    <a:pt x="1153795" y="895604"/>
                    <a:pt x="895477" y="1153795"/>
                    <a:pt x="576961" y="1153795"/>
                  </a:cubicBezTo>
                  <a:cubicBezTo>
                    <a:pt x="258445" y="1153795"/>
                    <a:pt x="0" y="895477"/>
                    <a:pt x="0" y="576961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094246" y="2629414"/>
            <a:ext cx="1696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84394" y="3308914"/>
            <a:ext cx="14305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Khởi tạo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0615" y="4004772"/>
            <a:ext cx="2878093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Tạo tài khoản, ví Tiền mặt và danh mục mặc định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725101" y="2853380"/>
            <a:ext cx="3514611" cy="2347846"/>
            <a:chOff x="0" y="0"/>
            <a:chExt cx="4686148" cy="31304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86173" cy="3130423"/>
            </a:xfrm>
            <a:custGeom>
              <a:avLst/>
              <a:gdLst/>
              <a:ahLst/>
              <a:cxnLst/>
              <a:rect l="l" t="t" r="r" b="b"/>
              <a:pathLst>
                <a:path w="4686173" h="3130423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4310507" y="0"/>
                  </a:lnTo>
                  <a:cubicBezTo>
                    <a:pt x="4518025" y="0"/>
                    <a:pt x="4686173" y="168148"/>
                    <a:pt x="4686173" y="375666"/>
                  </a:cubicBezTo>
                  <a:lnTo>
                    <a:pt x="4686173" y="2754757"/>
                  </a:lnTo>
                  <a:cubicBezTo>
                    <a:pt x="4686173" y="2962275"/>
                    <a:pt x="4518025" y="3130423"/>
                    <a:pt x="4310507" y="3130423"/>
                  </a:cubicBezTo>
                  <a:lnTo>
                    <a:pt x="375666" y="3130423"/>
                  </a:lnTo>
                  <a:cubicBezTo>
                    <a:pt x="168148" y="3130423"/>
                    <a:pt x="0" y="2962275"/>
                    <a:pt x="0" y="275475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029131" y="2372949"/>
            <a:ext cx="865356" cy="865356"/>
            <a:chOff x="0" y="0"/>
            <a:chExt cx="1153808" cy="1153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53795" cy="1153795"/>
            </a:xfrm>
            <a:custGeom>
              <a:avLst/>
              <a:gdLst/>
              <a:ahLst/>
              <a:cxnLst/>
              <a:rect l="l" t="t" r="r" b="b"/>
              <a:pathLst>
                <a:path w="1153795" h="1153795">
                  <a:moveTo>
                    <a:pt x="0" y="576961"/>
                  </a:moveTo>
                  <a:cubicBezTo>
                    <a:pt x="0" y="258318"/>
                    <a:pt x="258318" y="0"/>
                    <a:pt x="576961" y="0"/>
                  </a:cubicBezTo>
                  <a:cubicBezTo>
                    <a:pt x="895604" y="0"/>
                    <a:pt x="1153795" y="258318"/>
                    <a:pt x="1153795" y="576961"/>
                  </a:cubicBezTo>
                  <a:cubicBezTo>
                    <a:pt x="1153795" y="895604"/>
                    <a:pt x="895477" y="1153795"/>
                    <a:pt x="576961" y="1153795"/>
                  </a:cubicBezTo>
                  <a:cubicBezTo>
                    <a:pt x="258445" y="1153795"/>
                    <a:pt x="0" y="895477"/>
                    <a:pt x="0" y="576961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376981" y="2629414"/>
            <a:ext cx="1696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58720" y="3308914"/>
            <a:ext cx="193808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Đăng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nhập</a:t>
            </a:r>
            <a:endParaRPr lang="en-US" sz="3000" b="1" dirty="0">
              <a:solidFill>
                <a:srgbClr val="0F2A4D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043360" y="4004772"/>
            <a:ext cx="287809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Xác minh mật khẩu, trạng thái khóa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4007836" y="2853380"/>
            <a:ext cx="3514611" cy="2347846"/>
            <a:chOff x="0" y="0"/>
            <a:chExt cx="4686148" cy="31304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686173" cy="3130423"/>
            </a:xfrm>
            <a:custGeom>
              <a:avLst/>
              <a:gdLst/>
              <a:ahLst/>
              <a:cxnLst/>
              <a:rect l="l" t="t" r="r" b="b"/>
              <a:pathLst>
                <a:path w="4686173" h="3130423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4310507" y="0"/>
                  </a:lnTo>
                  <a:cubicBezTo>
                    <a:pt x="4518025" y="0"/>
                    <a:pt x="4686173" y="168148"/>
                    <a:pt x="4686173" y="375666"/>
                  </a:cubicBezTo>
                  <a:lnTo>
                    <a:pt x="4686173" y="2754757"/>
                  </a:lnTo>
                  <a:cubicBezTo>
                    <a:pt x="4686173" y="2962275"/>
                    <a:pt x="4518025" y="3130423"/>
                    <a:pt x="4310507" y="3130423"/>
                  </a:cubicBezTo>
                  <a:lnTo>
                    <a:pt x="375666" y="3130423"/>
                  </a:lnTo>
                  <a:cubicBezTo>
                    <a:pt x="168148" y="3130423"/>
                    <a:pt x="0" y="2962275"/>
                    <a:pt x="0" y="275475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311876" y="2372949"/>
            <a:ext cx="865356" cy="865356"/>
            <a:chOff x="0" y="0"/>
            <a:chExt cx="1153808" cy="11538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53795" cy="1153795"/>
            </a:xfrm>
            <a:custGeom>
              <a:avLst/>
              <a:gdLst/>
              <a:ahLst/>
              <a:cxnLst/>
              <a:rect l="l" t="t" r="r" b="b"/>
              <a:pathLst>
                <a:path w="1153795" h="1153795">
                  <a:moveTo>
                    <a:pt x="0" y="576961"/>
                  </a:moveTo>
                  <a:cubicBezTo>
                    <a:pt x="0" y="258318"/>
                    <a:pt x="258318" y="0"/>
                    <a:pt x="576961" y="0"/>
                  </a:cubicBezTo>
                  <a:cubicBezTo>
                    <a:pt x="895604" y="0"/>
                    <a:pt x="1153795" y="258318"/>
                    <a:pt x="1153795" y="576961"/>
                  </a:cubicBezTo>
                  <a:cubicBezTo>
                    <a:pt x="1153795" y="895604"/>
                    <a:pt x="895477" y="1153795"/>
                    <a:pt x="576961" y="1153795"/>
                  </a:cubicBezTo>
                  <a:cubicBezTo>
                    <a:pt x="258445" y="1153795"/>
                    <a:pt x="0" y="895477"/>
                    <a:pt x="0" y="576961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659717" y="2629414"/>
            <a:ext cx="1696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056779" y="3308914"/>
            <a:ext cx="1559755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Sử</a:t>
            </a: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dụng</a:t>
            </a:r>
            <a:endParaRPr lang="en-US" sz="3000" b="1" dirty="0">
              <a:solidFill>
                <a:srgbClr val="0F2A4D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326095" y="4004772"/>
            <a:ext cx="2878093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Chuyển đến Dashboard sau xác thực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502788" y="6101239"/>
            <a:ext cx="7014924" cy="2191497"/>
            <a:chOff x="0" y="0"/>
            <a:chExt cx="9353232" cy="292199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353296" cy="2921964"/>
            </a:xfrm>
            <a:custGeom>
              <a:avLst/>
              <a:gdLst/>
              <a:ahLst/>
              <a:cxnLst/>
              <a:rect l="l" t="t" r="r" b="b"/>
              <a:pathLst>
                <a:path w="9353296" h="2921964">
                  <a:moveTo>
                    <a:pt x="0" y="350687"/>
                  </a:moveTo>
                  <a:cubicBezTo>
                    <a:pt x="0" y="157005"/>
                    <a:pt x="123952" y="0"/>
                    <a:pt x="276860" y="0"/>
                  </a:cubicBezTo>
                  <a:lnTo>
                    <a:pt x="9076436" y="0"/>
                  </a:lnTo>
                  <a:cubicBezTo>
                    <a:pt x="9229344" y="0"/>
                    <a:pt x="9353296" y="157005"/>
                    <a:pt x="9353296" y="350687"/>
                  </a:cubicBezTo>
                  <a:lnTo>
                    <a:pt x="9353296" y="2571277"/>
                  </a:lnTo>
                  <a:cubicBezTo>
                    <a:pt x="9353296" y="2764959"/>
                    <a:pt x="9229344" y="2921964"/>
                    <a:pt x="9076436" y="2921964"/>
                  </a:cubicBezTo>
                  <a:lnTo>
                    <a:pt x="276860" y="2921964"/>
                  </a:lnTo>
                  <a:cubicBezTo>
                    <a:pt x="123952" y="2921964"/>
                    <a:pt x="0" y="2764959"/>
                    <a:pt x="0" y="257127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02788" y="6101239"/>
            <a:ext cx="110385" cy="2191497"/>
            <a:chOff x="0" y="0"/>
            <a:chExt cx="147180" cy="292199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7193" cy="2921964"/>
            </a:xfrm>
            <a:custGeom>
              <a:avLst/>
              <a:gdLst/>
              <a:ahLst/>
              <a:cxnLst/>
              <a:rect l="l" t="t" r="r" b="b"/>
              <a:pathLst>
                <a:path w="147193" h="2921964">
                  <a:moveTo>
                    <a:pt x="0" y="0"/>
                  </a:moveTo>
                  <a:lnTo>
                    <a:pt x="147193" y="0"/>
                  </a:lnTo>
                  <a:lnTo>
                    <a:pt x="147193" y="2921964"/>
                  </a:lnTo>
                  <a:lnTo>
                    <a:pt x="0" y="2921964"/>
                  </a:ln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821047" y="6378321"/>
            <a:ext cx="64470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QUÊN MẬT KHẨU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21047" y="6986502"/>
            <a:ext cx="6405858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Nhập email đã đăng ký → kiểm tra tài khoản → nhập mật khẩu mới → băm BCrypt → quay lại đăng nhập.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601562" y="6101239"/>
            <a:ext cx="7014924" cy="2191497"/>
            <a:chOff x="0" y="0"/>
            <a:chExt cx="9353232" cy="292199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53296" cy="2921964"/>
            </a:xfrm>
            <a:custGeom>
              <a:avLst/>
              <a:gdLst/>
              <a:ahLst/>
              <a:cxnLst/>
              <a:rect l="l" t="t" r="r" b="b"/>
              <a:pathLst>
                <a:path w="9353296" h="2921964">
                  <a:moveTo>
                    <a:pt x="0" y="350687"/>
                  </a:moveTo>
                  <a:cubicBezTo>
                    <a:pt x="0" y="157005"/>
                    <a:pt x="123952" y="0"/>
                    <a:pt x="276860" y="0"/>
                  </a:cubicBezTo>
                  <a:lnTo>
                    <a:pt x="9076436" y="0"/>
                  </a:lnTo>
                  <a:cubicBezTo>
                    <a:pt x="9229344" y="0"/>
                    <a:pt x="9353296" y="157005"/>
                    <a:pt x="9353296" y="350687"/>
                  </a:cubicBezTo>
                  <a:lnTo>
                    <a:pt x="9353296" y="2571277"/>
                  </a:lnTo>
                  <a:cubicBezTo>
                    <a:pt x="9353296" y="2764959"/>
                    <a:pt x="9229344" y="2921964"/>
                    <a:pt x="9076436" y="2921964"/>
                  </a:cubicBezTo>
                  <a:lnTo>
                    <a:pt x="276860" y="2921964"/>
                  </a:lnTo>
                  <a:cubicBezTo>
                    <a:pt x="123952" y="2921964"/>
                    <a:pt x="0" y="2764959"/>
                    <a:pt x="0" y="257127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601562" y="6101239"/>
            <a:ext cx="110385" cy="2191497"/>
            <a:chOff x="0" y="0"/>
            <a:chExt cx="147180" cy="292199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47193" cy="2921964"/>
            </a:xfrm>
            <a:custGeom>
              <a:avLst/>
              <a:gdLst/>
              <a:ahLst/>
              <a:cxnLst/>
              <a:rect l="l" t="t" r="r" b="b"/>
              <a:pathLst>
                <a:path w="147193" h="2921964">
                  <a:moveTo>
                    <a:pt x="0" y="0"/>
                  </a:moveTo>
                  <a:lnTo>
                    <a:pt x="147193" y="0"/>
                  </a:lnTo>
                  <a:lnTo>
                    <a:pt x="147193" y="2921964"/>
                  </a:lnTo>
                  <a:lnTo>
                    <a:pt x="0" y="2921964"/>
                  </a:lnTo>
                  <a:close/>
                </a:path>
              </a:pathLst>
            </a:custGeom>
            <a:solidFill>
              <a:srgbClr val="6E68CD"/>
            </a:solidFill>
            <a:ln w="14299" cap="sq">
              <a:solidFill>
                <a:srgbClr val="6E68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919821" y="6378321"/>
            <a:ext cx="64470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ĐỔI MẬT KHẨU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19821" y="6986502"/>
            <a:ext cx="6405858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Xác minh mật khẩu hiện tại; băm mật khẩu mới; sau khi cập nhật, yêu cầu đăng nhập lại.</a:t>
            </a:r>
          </a:p>
        </p:txBody>
      </p:sp>
      <p:sp>
        <p:nvSpPr>
          <p:cNvPr id="46" name="AutoShape 46"/>
          <p:cNvSpPr/>
          <p:nvPr/>
        </p:nvSpPr>
        <p:spPr>
          <a:xfrm>
            <a:off x="8995791" y="4000798"/>
            <a:ext cx="695735" cy="53011"/>
          </a:xfrm>
          <a:prstGeom prst="line">
            <a:avLst/>
          </a:prstGeom>
          <a:ln w="19050" cap="rnd">
            <a:solidFill>
              <a:srgbClr val="1C64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AutoShape 47"/>
          <p:cNvSpPr/>
          <p:nvPr/>
        </p:nvSpPr>
        <p:spPr>
          <a:xfrm>
            <a:off x="13281155" y="4006348"/>
            <a:ext cx="695735" cy="53011"/>
          </a:xfrm>
          <a:prstGeom prst="line">
            <a:avLst/>
          </a:prstGeom>
          <a:ln w="19050" cap="rnd">
            <a:solidFill>
              <a:srgbClr val="1C64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8" name="Group 48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1467" y="1345463"/>
            <a:ext cx="1002621" cy="89792"/>
            <a:chOff x="0" y="0"/>
            <a:chExt cx="1336827" cy="119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779918" y="2195928"/>
            <a:ext cx="7769895" cy="3298085"/>
            <a:chOff x="0" y="0"/>
            <a:chExt cx="10359860" cy="4397447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359860" cy="4397447"/>
              <a:chOff x="0" y="0"/>
              <a:chExt cx="10359860" cy="439744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0359899" cy="4397447"/>
              </a:xfrm>
              <a:custGeom>
                <a:avLst/>
                <a:gdLst/>
                <a:ahLst/>
                <a:cxnLst/>
                <a:rect l="l" t="t" r="r" b="b"/>
                <a:pathLst>
                  <a:path w="10359899" h="4397447">
                    <a:moveTo>
                      <a:pt x="0" y="527696"/>
                    </a:moveTo>
                    <a:cubicBezTo>
                      <a:pt x="0" y="236252"/>
                      <a:pt x="463169" y="0"/>
                      <a:pt x="1034542" y="0"/>
                    </a:cubicBezTo>
                    <a:lnTo>
                      <a:pt x="9325356" y="0"/>
                    </a:lnTo>
                    <a:cubicBezTo>
                      <a:pt x="9896729" y="0"/>
                      <a:pt x="10359899" y="236252"/>
                      <a:pt x="10359899" y="527696"/>
                    </a:cubicBezTo>
                    <a:lnTo>
                      <a:pt x="10359899" y="3869750"/>
                    </a:lnTo>
                    <a:cubicBezTo>
                      <a:pt x="10359899" y="4161194"/>
                      <a:pt x="9896729" y="4397447"/>
                      <a:pt x="9325356" y="4397447"/>
                    </a:cubicBezTo>
                    <a:lnTo>
                      <a:pt x="1034542" y="4397447"/>
                    </a:lnTo>
                    <a:cubicBezTo>
                      <a:pt x="463169" y="4397447"/>
                      <a:pt x="0" y="4161194"/>
                      <a:pt x="0" y="38697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070297" cy="4397447"/>
              <a:chOff x="0" y="0"/>
              <a:chExt cx="211417" cy="8686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11417" cy="868631"/>
              </a:xfrm>
              <a:custGeom>
                <a:avLst/>
                <a:gdLst/>
                <a:ahLst/>
                <a:cxnLst/>
                <a:rect l="l" t="t" r="r" b="b"/>
                <a:pathLst>
                  <a:path w="211417" h="868631">
                    <a:moveTo>
                      <a:pt x="0" y="0"/>
                    </a:moveTo>
                    <a:lnTo>
                      <a:pt x="211417" y="0"/>
                    </a:lnTo>
                    <a:lnTo>
                      <a:pt x="211417" y="868631"/>
                    </a:lnTo>
                    <a:lnTo>
                      <a:pt x="0" y="868631"/>
                    </a:ln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9525"/>
                <a:ext cx="211417" cy="8591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147180" cy="4385205"/>
              <a:chOff x="0" y="0"/>
              <a:chExt cx="147180" cy="438520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7193" cy="4385205"/>
              </a:xfrm>
              <a:custGeom>
                <a:avLst/>
                <a:gdLst/>
                <a:ahLst/>
                <a:cxnLst/>
                <a:rect l="l" t="t" r="r" b="b"/>
                <a:pathLst>
                  <a:path w="147193" h="4385205">
                    <a:moveTo>
                      <a:pt x="0" y="0"/>
                    </a:moveTo>
                    <a:lnTo>
                      <a:pt x="147193" y="0"/>
                    </a:lnTo>
                    <a:lnTo>
                      <a:pt x="147193" y="4385205"/>
                    </a:lnTo>
                    <a:lnTo>
                      <a:pt x="0" y="4385205"/>
                    </a:lnTo>
                    <a:close/>
                  </a:path>
                </a:pathLst>
              </a:custGeom>
              <a:solidFill>
                <a:srgbClr val="1C64BE"/>
              </a:solidFill>
              <a:ln w="14299" cap="sq">
                <a:solidFill>
                  <a:srgbClr val="1C64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705329" y="12242"/>
              <a:ext cx="457200" cy="4372963"/>
              <a:chOff x="0" y="0"/>
              <a:chExt cx="90311" cy="86379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0311" cy="863795"/>
              </a:xfrm>
              <a:custGeom>
                <a:avLst/>
                <a:gdLst/>
                <a:ahLst/>
                <a:cxnLst/>
                <a:rect l="l" t="t" r="r" b="b"/>
                <a:pathLst>
                  <a:path w="90311" h="863795">
                    <a:moveTo>
                      <a:pt x="0" y="0"/>
                    </a:moveTo>
                    <a:lnTo>
                      <a:pt x="90311" y="0"/>
                    </a:lnTo>
                    <a:lnTo>
                      <a:pt x="90311" y="863795"/>
                    </a:lnTo>
                    <a:lnTo>
                      <a:pt x="0" y="86379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9525"/>
                <a:ext cx="90311" cy="8542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28700" y="1654331"/>
            <a:ext cx="7301979" cy="4107363"/>
          </a:xfrm>
          <a:custGeom>
            <a:avLst/>
            <a:gdLst/>
            <a:ahLst/>
            <a:cxnLst/>
            <a:rect l="l" t="t" r="r" b="b"/>
            <a:pathLst>
              <a:path w="7301979" h="4107363">
                <a:moveTo>
                  <a:pt x="0" y="0"/>
                </a:moveTo>
                <a:lnTo>
                  <a:pt x="7301979" y="0"/>
                </a:lnTo>
                <a:lnTo>
                  <a:pt x="7301979" y="4107363"/>
                </a:lnTo>
                <a:lnTo>
                  <a:pt x="0" y="4107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047745" y="533933"/>
            <a:ext cx="728293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QUẢN LÝ VÍ TIỀN VÀ DANH MỤC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84450" y="2483362"/>
            <a:ext cx="157414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VÍ TIỀN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84451" y="3110592"/>
            <a:ext cx="7160828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Tiền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mặt</a:t>
            </a:r>
            <a:endParaRPr lang="en-US" sz="2499" dirty="0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Tài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khoản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ngân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hàng</a:t>
            </a:r>
            <a:endParaRPr lang="en-US" sz="2499" dirty="0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Ví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điện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tử</a:t>
            </a:r>
            <a:endParaRPr lang="en-US" sz="2499" dirty="0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endParaRPr lang="en-US" sz="2499" dirty="0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Người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dùng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có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thể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thêm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,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sửa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,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xem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số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dư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và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xóa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ví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khi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đủ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điều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kiện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.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Ví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mặc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định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được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tạo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khi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đăng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ký</a:t>
            </a:r>
            <a:r>
              <a:rPr lang="en-US" sz="2499" dirty="0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id="26" name="Freeform 26"/>
          <p:cNvSpPr/>
          <p:nvPr/>
        </p:nvSpPr>
        <p:spPr>
          <a:xfrm>
            <a:off x="9779918" y="5761694"/>
            <a:ext cx="7282934" cy="4096650"/>
          </a:xfrm>
          <a:custGeom>
            <a:avLst/>
            <a:gdLst/>
            <a:ahLst/>
            <a:cxnLst/>
            <a:rect l="l" t="t" r="r" b="b"/>
            <a:pathLst>
              <a:path w="7282934" h="4096650">
                <a:moveTo>
                  <a:pt x="0" y="0"/>
                </a:moveTo>
                <a:lnTo>
                  <a:pt x="7282934" y="0"/>
                </a:lnTo>
                <a:lnTo>
                  <a:pt x="7282934" y="4096650"/>
                </a:lnTo>
                <a:lnTo>
                  <a:pt x="0" y="409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028700" y="6164491"/>
            <a:ext cx="7769895" cy="3291056"/>
            <a:chOff x="0" y="0"/>
            <a:chExt cx="10359860" cy="438807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0359860" cy="4388074"/>
              <a:chOff x="0" y="0"/>
              <a:chExt cx="10359860" cy="438807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359899" cy="4388074"/>
              </a:xfrm>
              <a:custGeom>
                <a:avLst/>
                <a:gdLst/>
                <a:ahLst/>
                <a:cxnLst/>
                <a:rect l="l" t="t" r="r" b="b"/>
                <a:pathLst>
                  <a:path w="10359899" h="4388074">
                    <a:moveTo>
                      <a:pt x="0" y="526571"/>
                    </a:moveTo>
                    <a:cubicBezTo>
                      <a:pt x="0" y="235748"/>
                      <a:pt x="463169" y="0"/>
                      <a:pt x="1034542" y="0"/>
                    </a:cubicBezTo>
                    <a:lnTo>
                      <a:pt x="9325356" y="0"/>
                    </a:lnTo>
                    <a:cubicBezTo>
                      <a:pt x="9896729" y="0"/>
                      <a:pt x="10359899" y="235748"/>
                      <a:pt x="10359899" y="526571"/>
                    </a:cubicBezTo>
                    <a:lnTo>
                      <a:pt x="10359899" y="3861503"/>
                    </a:lnTo>
                    <a:cubicBezTo>
                      <a:pt x="10359899" y="4152326"/>
                      <a:pt x="9896729" y="4388074"/>
                      <a:pt x="9325356" y="4388074"/>
                    </a:cubicBezTo>
                    <a:lnTo>
                      <a:pt x="1034542" y="4388074"/>
                    </a:lnTo>
                    <a:cubicBezTo>
                      <a:pt x="463169" y="4388074"/>
                      <a:pt x="0" y="4152326"/>
                      <a:pt x="0" y="38615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0"/>
              <a:ext cx="1070297" cy="4388074"/>
              <a:chOff x="0" y="0"/>
              <a:chExt cx="211417" cy="8667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11417" cy="866780"/>
              </a:xfrm>
              <a:custGeom>
                <a:avLst/>
                <a:gdLst/>
                <a:ahLst/>
                <a:cxnLst/>
                <a:rect l="l" t="t" r="r" b="b"/>
                <a:pathLst>
                  <a:path w="211417" h="866780">
                    <a:moveTo>
                      <a:pt x="0" y="0"/>
                    </a:moveTo>
                    <a:lnTo>
                      <a:pt x="211417" y="0"/>
                    </a:lnTo>
                    <a:lnTo>
                      <a:pt x="211417" y="866780"/>
                    </a:lnTo>
                    <a:lnTo>
                      <a:pt x="0" y="866780"/>
                    </a:ln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9525"/>
                <a:ext cx="211417" cy="8572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0"/>
              <a:ext cx="147180" cy="4375859"/>
              <a:chOff x="0" y="0"/>
              <a:chExt cx="147180" cy="437585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47193" cy="4375859"/>
              </a:xfrm>
              <a:custGeom>
                <a:avLst/>
                <a:gdLst/>
                <a:ahLst/>
                <a:cxnLst/>
                <a:rect l="l" t="t" r="r" b="b"/>
                <a:pathLst>
                  <a:path w="147193" h="4375859">
                    <a:moveTo>
                      <a:pt x="0" y="0"/>
                    </a:moveTo>
                    <a:lnTo>
                      <a:pt x="147193" y="0"/>
                    </a:lnTo>
                    <a:lnTo>
                      <a:pt x="147193" y="4375859"/>
                    </a:lnTo>
                    <a:lnTo>
                      <a:pt x="0" y="4375859"/>
                    </a:lnTo>
                    <a:close/>
                  </a:path>
                </a:pathLst>
              </a:custGeom>
              <a:solidFill>
                <a:srgbClr val="49B0DC"/>
              </a:solidFill>
              <a:ln w="14299" cap="sq">
                <a:solidFill>
                  <a:srgbClr val="49B0D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05329" y="12216"/>
              <a:ext cx="457200" cy="4363643"/>
              <a:chOff x="0" y="0"/>
              <a:chExt cx="90311" cy="86195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90311" cy="861954"/>
              </a:xfrm>
              <a:custGeom>
                <a:avLst/>
                <a:gdLst/>
                <a:ahLst/>
                <a:cxnLst/>
                <a:rect l="l" t="t" r="r" b="b"/>
                <a:pathLst>
                  <a:path w="90311" h="861954">
                    <a:moveTo>
                      <a:pt x="0" y="0"/>
                    </a:moveTo>
                    <a:lnTo>
                      <a:pt x="90311" y="0"/>
                    </a:lnTo>
                    <a:lnTo>
                      <a:pt x="90311" y="861954"/>
                    </a:lnTo>
                    <a:lnTo>
                      <a:pt x="0" y="86195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9525"/>
                <a:ext cx="90311" cy="8524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333233" y="6448115"/>
            <a:ext cx="198346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DANH MỤC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33233" y="7075346"/>
            <a:ext cx="7160828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Phân loại danh mục Thu và Chi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Hỗ trợ danh mục cha – con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Thêm, sửa, xóa danh mục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23334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Danh mục gắn với giao dịch và ngân sách; việc xóa cần kiểm tra dữ liệu liên quan.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451"/>
            <a:ext cx="1002621" cy="89792"/>
            <a:chOff x="0" y="0"/>
            <a:chExt cx="1336827" cy="119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729199" y="2120494"/>
            <a:ext cx="5161817" cy="1828448"/>
            <a:chOff x="0" y="0"/>
            <a:chExt cx="6882422" cy="24379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82384" cy="2437846"/>
            </a:xfrm>
            <a:custGeom>
              <a:avLst/>
              <a:gdLst/>
              <a:ahLst/>
              <a:cxnLst/>
              <a:rect l="l" t="t" r="r" b="b"/>
              <a:pathLst>
                <a:path w="6882384" h="2437846">
                  <a:moveTo>
                    <a:pt x="0" y="292519"/>
                  </a:moveTo>
                  <a:cubicBezTo>
                    <a:pt x="0" y="130956"/>
                    <a:pt x="118999" y="0"/>
                    <a:pt x="265811" y="0"/>
                  </a:cubicBezTo>
                  <a:lnTo>
                    <a:pt x="6616573" y="0"/>
                  </a:lnTo>
                  <a:cubicBezTo>
                    <a:pt x="6763385" y="0"/>
                    <a:pt x="6882384" y="130956"/>
                    <a:pt x="6882384" y="292519"/>
                  </a:cubicBezTo>
                  <a:lnTo>
                    <a:pt x="6882384" y="2145327"/>
                  </a:lnTo>
                  <a:cubicBezTo>
                    <a:pt x="6882384" y="2306890"/>
                    <a:pt x="6763385" y="2437846"/>
                    <a:pt x="6616573" y="2437846"/>
                  </a:cubicBezTo>
                  <a:lnTo>
                    <a:pt x="265811" y="2437846"/>
                  </a:lnTo>
                  <a:cubicBezTo>
                    <a:pt x="118999" y="2437981"/>
                    <a:pt x="0" y="2306890"/>
                    <a:pt x="0" y="214532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29199" y="2120494"/>
            <a:ext cx="110385" cy="1828448"/>
            <a:chOff x="0" y="0"/>
            <a:chExt cx="147180" cy="24379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7193" cy="2437981"/>
            </a:xfrm>
            <a:custGeom>
              <a:avLst/>
              <a:gdLst/>
              <a:ahLst/>
              <a:cxnLst/>
              <a:rect l="l" t="t" r="r" b="b"/>
              <a:pathLst>
                <a:path w="147193" h="2437981">
                  <a:moveTo>
                    <a:pt x="0" y="0"/>
                  </a:moveTo>
                  <a:lnTo>
                    <a:pt x="147193" y="0"/>
                  </a:lnTo>
                  <a:lnTo>
                    <a:pt x="147193" y="2437981"/>
                  </a:lnTo>
                  <a:lnTo>
                    <a:pt x="0" y="243798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29199" y="4110866"/>
            <a:ext cx="5161817" cy="1828448"/>
            <a:chOff x="0" y="0"/>
            <a:chExt cx="6882422" cy="24379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82384" cy="2437846"/>
            </a:xfrm>
            <a:custGeom>
              <a:avLst/>
              <a:gdLst/>
              <a:ahLst/>
              <a:cxnLst/>
              <a:rect l="l" t="t" r="r" b="b"/>
              <a:pathLst>
                <a:path w="6882384" h="2437846">
                  <a:moveTo>
                    <a:pt x="0" y="292519"/>
                  </a:moveTo>
                  <a:cubicBezTo>
                    <a:pt x="0" y="130956"/>
                    <a:pt x="118999" y="0"/>
                    <a:pt x="265811" y="0"/>
                  </a:cubicBezTo>
                  <a:lnTo>
                    <a:pt x="6616573" y="0"/>
                  </a:lnTo>
                  <a:cubicBezTo>
                    <a:pt x="6763385" y="0"/>
                    <a:pt x="6882384" y="130956"/>
                    <a:pt x="6882384" y="292519"/>
                  </a:cubicBezTo>
                  <a:lnTo>
                    <a:pt x="6882384" y="2145327"/>
                  </a:lnTo>
                  <a:cubicBezTo>
                    <a:pt x="6882384" y="2306890"/>
                    <a:pt x="6763385" y="2437846"/>
                    <a:pt x="6616573" y="2437846"/>
                  </a:cubicBezTo>
                  <a:lnTo>
                    <a:pt x="265811" y="2437846"/>
                  </a:lnTo>
                  <a:cubicBezTo>
                    <a:pt x="118999" y="2437981"/>
                    <a:pt x="0" y="2306890"/>
                    <a:pt x="0" y="214532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29199" y="4110866"/>
            <a:ext cx="110385" cy="1828448"/>
            <a:chOff x="0" y="0"/>
            <a:chExt cx="147180" cy="24379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7193" cy="2437981"/>
            </a:xfrm>
            <a:custGeom>
              <a:avLst/>
              <a:gdLst/>
              <a:ahLst/>
              <a:cxnLst/>
              <a:rect l="l" t="t" r="r" b="b"/>
              <a:pathLst>
                <a:path w="147193" h="2437981">
                  <a:moveTo>
                    <a:pt x="0" y="0"/>
                  </a:moveTo>
                  <a:lnTo>
                    <a:pt x="147193" y="0"/>
                  </a:lnTo>
                  <a:lnTo>
                    <a:pt x="147193" y="2437981"/>
                  </a:lnTo>
                  <a:lnTo>
                    <a:pt x="0" y="2437981"/>
                  </a:ln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29199" y="6101239"/>
            <a:ext cx="5161817" cy="1828448"/>
            <a:chOff x="0" y="0"/>
            <a:chExt cx="6882422" cy="24379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82384" cy="2437846"/>
            </a:xfrm>
            <a:custGeom>
              <a:avLst/>
              <a:gdLst/>
              <a:ahLst/>
              <a:cxnLst/>
              <a:rect l="l" t="t" r="r" b="b"/>
              <a:pathLst>
                <a:path w="6882384" h="2437846">
                  <a:moveTo>
                    <a:pt x="0" y="292519"/>
                  </a:moveTo>
                  <a:cubicBezTo>
                    <a:pt x="0" y="130956"/>
                    <a:pt x="118999" y="0"/>
                    <a:pt x="265811" y="0"/>
                  </a:cubicBezTo>
                  <a:lnTo>
                    <a:pt x="6616573" y="0"/>
                  </a:lnTo>
                  <a:cubicBezTo>
                    <a:pt x="6763385" y="0"/>
                    <a:pt x="6882384" y="130956"/>
                    <a:pt x="6882384" y="292519"/>
                  </a:cubicBezTo>
                  <a:lnTo>
                    <a:pt x="6882384" y="2145327"/>
                  </a:lnTo>
                  <a:cubicBezTo>
                    <a:pt x="6882384" y="2306890"/>
                    <a:pt x="6763385" y="2437846"/>
                    <a:pt x="6616573" y="2437846"/>
                  </a:cubicBezTo>
                  <a:lnTo>
                    <a:pt x="265811" y="2437846"/>
                  </a:lnTo>
                  <a:cubicBezTo>
                    <a:pt x="118999" y="2437981"/>
                    <a:pt x="0" y="2306890"/>
                    <a:pt x="0" y="214532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29199" y="6101239"/>
            <a:ext cx="110385" cy="1828448"/>
            <a:chOff x="0" y="0"/>
            <a:chExt cx="147180" cy="24379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7193" cy="2437981"/>
            </a:xfrm>
            <a:custGeom>
              <a:avLst/>
              <a:gdLst/>
              <a:ahLst/>
              <a:cxnLst/>
              <a:rect l="l" t="t" r="r" b="b"/>
              <a:pathLst>
                <a:path w="147193" h="2437981">
                  <a:moveTo>
                    <a:pt x="0" y="0"/>
                  </a:moveTo>
                  <a:lnTo>
                    <a:pt x="147193" y="0"/>
                  </a:lnTo>
                  <a:lnTo>
                    <a:pt x="147193" y="2437981"/>
                  </a:lnTo>
                  <a:lnTo>
                    <a:pt x="0" y="2437981"/>
                  </a:lnTo>
                  <a:close/>
                </a:path>
              </a:pathLst>
            </a:custGeom>
            <a:solidFill>
              <a:srgbClr val="239B73"/>
            </a:solidFill>
            <a:ln w="14299" cap="sq">
              <a:solidFill>
                <a:srgbClr val="239B7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28700" y="2215695"/>
            <a:ext cx="10158206" cy="5713991"/>
          </a:xfrm>
          <a:custGeom>
            <a:avLst/>
            <a:gdLst/>
            <a:ahLst/>
            <a:cxnLst/>
            <a:rect l="l" t="t" r="r" b="b"/>
            <a:pathLst>
              <a:path w="10158206" h="5713991">
                <a:moveTo>
                  <a:pt x="0" y="0"/>
                </a:moveTo>
                <a:lnTo>
                  <a:pt x="10158206" y="0"/>
                </a:lnTo>
                <a:lnTo>
                  <a:pt x="10158206" y="5713991"/>
                </a:lnTo>
                <a:lnTo>
                  <a:pt x="0" y="5713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044978" y="742921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QUẢN LÝ GIAO DỊCH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47458" y="2397576"/>
            <a:ext cx="45939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THAO TÁC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47458" y="3024797"/>
            <a:ext cx="455275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Thêm • sửa • xóa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47458" y="4387948"/>
            <a:ext cx="45939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TÌM KIẾM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47458" y="5015179"/>
            <a:ext cx="436138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Lọc loại, danh mục, ví và khoảng ngày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47458" y="6378321"/>
            <a:ext cx="45939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ĐỒNG BỘ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47458" y="7005552"/>
            <a:ext cx="455275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Cập nhật số dư ví và ngân sách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7321"/>
            <a:ext cx="1002621" cy="89792"/>
            <a:chOff x="0" y="0"/>
            <a:chExt cx="1336827" cy="119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3923" y="7680057"/>
            <a:ext cx="15113698" cy="873926"/>
            <a:chOff x="0" y="0"/>
            <a:chExt cx="20151598" cy="11652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151598" cy="1165119"/>
            </a:xfrm>
            <a:custGeom>
              <a:avLst/>
              <a:gdLst/>
              <a:ahLst/>
              <a:cxnLst/>
              <a:rect l="l" t="t" r="r" b="b"/>
              <a:pathLst>
                <a:path w="20151598" h="1165119">
                  <a:moveTo>
                    <a:pt x="0" y="139789"/>
                  </a:moveTo>
                  <a:cubicBezTo>
                    <a:pt x="0" y="62612"/>
                    <a:pt x="89535" y="0"/>
                    <a:pt x="199898" y="0"/>
                  </a:cubicBezTo>
                  <a:lnTo>
                    <a:pt x="19951700" y="0"/>
                  </a:lnTo>
                  <a:cubicBezTo>
                    <a:pt x="20062189" y="0"/>
                    <a:pt x="20151598" y="62612"/>
                    <a:pt x="20151598" y="139789"/>
                  </a:cubicBezTo>
                  <a:lnTo>
                    <a:pt x="20151598" y="1025329"/>
                  </a:lnTo>
                  <a:cubicBezTo>
                    <a:pt x="20151598" y="1102596"/>
                    <a:pt x="20062062" y="1165119"/>
                    <a:pt x="19951700" y="1165119"/>
                  </a:cubicBezTo>
                  <a:lnTo>
                    <a:pt x="199898" y="1165119"/>
                  </a:lnTo>
                  <a:cubicBezTo>
                    <a:pt x="89535" y="1165208"/>
                    <a:pt x="0" y="1102596"/>
                    <a:pt x="0" y="1025418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769542" y="1986177"/>
            <a:ext cx="9489758" cy="5337989"/>
          </a:xfrm>
          <a:custGeom>
            <a:avLst/>
            <a:gdLst/>
            <a:ahLst/>
            <a:cxnLst/>
            <a:rect l="l" t="t" r="r" b="b"/>
            <a:pathLst>
              <a:path w="9489758" h="5337989">
                <a:moveTo>
                  <a:pt x="0" y="0"/>
                </a:moveTo>
                <a:lnTo>
                  <a:pt x="9489758" y="0"/>
                </a:lnTo>
                <a:lnTo>
                  <a:pt x="9489758" y="5337989"/>
                </a:lnTo>
                <a:lnTo>
                  <a:pt x="0" y="5337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44978" y="736266"/>
            <a:ext cx="16124387" cy="64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QUẢN LÝ NGÂN SÁCH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323825"/>
            <a:ext cx="720201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Ngân sách được thiết lập theo: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8193" y="4138669"/>
            <a:ext cx="5906638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Danh mục chi tiêu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Tháng và năm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Hạn mức lớn hơn 0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 Một ngân sách cho tổ hợp tài khoản – danh mục – tháng – năm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45177" y="7866761"/>
            <a:ext cx="1420264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Ngân sách được tính theo đúng danh mục đã chọn, chưa tự tổng hợp chi tiêu từ danh mục con.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6256"/>
            <a:ext cx="1002621" cy="89792"/>
            <a:chOff x="0" y="0"/>
            <a:chExt cx="1336827" cy="119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2259016"/>
            <a:ext cx="7816019" cy="4396511"/>
          </a:xfrm>
          <a:custGeom>
            <a:avLst/>
            <a:gdLst/>
            <a:ahLst/>
            <a:cxnLst/>
            <a:rect l="l" t="t" r="r" b="b"/>
            <a:pathLst>
              <a:path w="7816019" h="4396511">
                <a:moveTo>
                  <a:pt x="0" y="0"/>
                </a:moveTo>
                <a:lnTo>
                  <a:pt x="7816019" y="0"/>
                </a:lnTo>
                <a:lnTo>
                  <a:pt x="7816019" y="4396511"/>
                </a:lnTo>
                <a:lnTo>
                  <a:pt x="0" y="4396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459559" y="2268172"/>
            <a:ext cx="7799741" cy="4387354"/>
          </a:xfrm>
          <a:custGeom>
            <a:avLst/>
            <a:gdLst/>
            <a:ahLst/>
            <a:cxnLst/>
            <a:rect l="l" t="t" r="r" b="b"/>
            <a:pathLst>
              <a:path w="7799741" h="4387354">
                <a:moveTo>
                  <a:pt x="0" y="0"/>
                </a:moveTo>
                <a:lnTo>
                  <a:pt x="7799741" y="0"/>
                </a:lnTo>
                <a:lnTo>
                  <a:pt x="7799741" y="4387355"/>
                </a:lnTo>
                <a:lnTo>
                  <a:pt x="0" y="4387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44978" y="744726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DASHBOARD VÀ BÁO CÁO THU CHI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2A4D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84959" y="6962572"/>
            <a:ext cx="29489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Trang Dashboard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28761" y="6962572"/>
            <a:ext cx="241589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Trang Báo cáo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87151" y="7726817"/>
            <a:ext cx="15113698" cy="873926"/>
            <a:chOff x="0" y="0"/>
            <a:chExt cx="20151598" cy="11652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151598" cy="1165119"/>
            </a:xfrm>
            <a:custGeom>
              <a:avLst/>
              <a:gdLst/>
              <a:ahLst/>
              <a:cxnLst/>
              <a:rect l="l" t="t" r="r" b="b"/>
              <a:pathLst>
                <a:path w="20151598" h="1165119">
                  <a:moveTo>
                    <a:pt x="0" y="139789"/>
                  </a:moveTo>
                  <a:cubicBezTo>
                    <a:pt x="0" y="62612"/>
                    <a:pt x="89535" y="0"/>
                    <a:pt x="199898" y="0"/>
                  </a:cubicBezTo>
                  <a:lnTo>
                    <a:pt x="19951700" y="0"/>
                  </a:lnTo>
                  <a:cubicBezTo>
                    <a:pt x="20062189" y="0"/>
                    <a:pt x="20151598" y="62612"/>
                    <a:pt x="20151598" y="139789"/>
                  </a:cubicBezTo>
                  <a:lnTo>
                    <a:pt x="20151598" y="1025329"/>
                  </a:lnTo>
                  <a:cubicBezTo>
                    <a:pt x="20151598" y="1102596"/>
                    <a:pt x="20062062" y="1165119"/>
                    <a:pt x="19951700" y="1165119"/>
                  </a:cubicBezTo>
                  <a:lnTo>
                    <a:pt x="199898" y="1165119"/>
                  </a:lnTo>
                  <a:cubicBezTo>
                    <a:pt x="89535" y="1165208"/>
                    <a:pt x="0" y="1102596"/>
                    <a:pt x="0" y="1025418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058405" y="7913521"/>
            <a:ext cx="1420264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Chênh lệch thu chi = Tổng thu − Tổng chi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45" y="735201"/>
            <a:ext cx="16124387" cy="64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LUỒNG XỬ LÝ CỦA HỆ THỐNG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31467" y="1556256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7817" y="2738199"/>
            <a:ext cx="2965542" cy="2267281"/>
            <a:chOff x="0" y="0"/>
            <a:chExt cx="3954056" cy="30230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54018" cy="3023041"/>
            </a:xfrm>
            <a:custGeom>
              <a:avLst/>
              <a:gdLst/>
              <a:ahLst/>
              <a:cxnLst/>
              <a:rect l="l" t="t" r="r" b="b"/>
              <a:pathLst>
                <a:path w="3954018" h="3023041">
                  <a:moveTo>
                    <a:pt x="0" y="362759"/>
                  </a:moveTo>
                  <a:cubicBezTo>
                    <a:pt x="0" y="162353"/>
                    <a:pt x="148463" y="0"/>
                    <a:pt x="331724" y="0"/>
                  </a:cubicBezTo>
                  <a:lnTo>
                    <a:pt x="3622294" y="0"/>
                  </a:lnTo>
                  <a:cubicBezTo>
                    <a:pt x="3805555" y="0"/>
                    <a:pt x="3954018" y="162353"/>
                    <a:pt x="3954018" y="362759"/>
                  </a:cubicBezTo>
                  <a:lnTo>
                    <a:pt x="3954018" y="2660282"/>
                  </a:lnTo>
                  <a:cubicBezTo>
                    <a:pt x="3954018" y="2860689"/>
                    <a:pt x="3805555" y="3023041"/>
                    <a:pt x="3622294" y="3023041"/>
                  </a:cubicBezTo>
                  <a:lnTo>
                    <a:pt x="331724" y="3023041"/>
                  </a:lnTo>
                  <a:cubicBezTo>
                    <a:pt x="148463" y="3023041"/>
                    <a:pt x="0" y="2860688"/>
                    <a:pt x="0" y="26602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7817" y="2738199"/>
            <a:ext cx="2965542" cy="261376"/>
            <a:chOff x="0" y="0"/>
            <a:chExt cx="3954056" cy="3485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54018" cy="348488"/>
            </a:xfrm>
            <a:custGeom>
              <a:avLst/>
              <a:gdLst/>
              <a:ahLst/>
              <a:cxnLst/>
              <a:rect l="l" t="t" r="r" b="b"/>
              <a:pathLst>
                <a:path w="3954018" h="348488">
                  <a:moveTo>
                    <a:pt x="0" y="0"/>
                  </a:moveTo>
                  <a:lnTo>
                    <a:pt x="3954018" y="0"/>
                  </a:lnTo>
                  <a:lnTo>
                    <a:pt x="3954018" y="348488"/>
                  </a:lnTo>
                  <a:lnTo>
                    <a:pt x="0" y="348488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56262" y="3289061"/>
            <a:ext cx="253492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TRÌNH DUYỆT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3723" y="3946291"/>
            <a:ext cx="2254758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Người dùng thao tác</a:t>
            </a:r>
          </a:p>
        </p:txBody>
      </p:sp>
      <p:sp>
        <p:nvSpPr>
          <p:cNvPr id="11" name="AutoShape 11"/>
          <p:cNvSpPr/>
          <p:nvPr/>
        </p:nvSpPr>
        <p:spPr>
          <a:xfrm rot="266400">
            <a:off x="3686413" y="3765328"/>
            <a:ext cx="492585" cy="0"/>
          </a:xfrm>
          <a:prstGeom prst="line">
            <a:avLst/>
          </a:prstGeom>
          <a:ln w="19050" cap="rnd">
            <a:solidFill>
              <a:srgbClr val="1C64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4248131" y="2738199"/>
            <a:ext cx="2965542" cy="2267281"/>
            <a:chOff x="0" y="0"/>
            <a:chExt cx="3954056" cy="30230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54018" cy="3023041"/>
            </a:xfrm>
            <a:custGeom>
              <a:avLst/>
              <a:gdLst/>
              <a:ahLst/>
              <a:cxnLst/>
              <a:rect l="l" t="t" r="r" b="b"/>
              <a:pathLst>
                <a:path w="3954018" h="3023041">
                  <a:moveTo>
                    <a:pt x="0" y="362759"/>
                  </a:moveTo>
                  <a:cubicBezTo>
                    <a:pt x="0" y="162353"/>
                    <a:pt x="148463" y="0"/>
                    <a:pt x="331724" y="0"/>
                  </a:cubicBezTo>
                  <a:lnTo>
                    <a:pt x="3622294" y="0"/>
                  </a:lnTo>
                  <a:cubicBezTo>
                    <a:pt x="3805555" y="0"/>
                    <a:pt x="3954018" y="162353"/>
                    <a:pt x="3954018" y="362759"/>
                  </a:cubicBezTo>
                  <a:lnTo>
                    <a:pt x="3954018" y="2660282"/>
                  </a:lnTo>
                  <a:cubicBezTo>
                    <a:pt x="3954018" y="2860689"/>
                    <a:pt x="3805555" y="3023041"/>
                    <a:pt x="3622294" y="3023041"/>
                  </a:cubicBezTo>
                  <a:lnTo>
                    <a:pt x="331724" y="3023041"/>
                  </a:lnTo>
                  <a:cubicBezTo>
                    <a:pt x="148463" y="3023041"/>
                    <a:pt x="0" y="2860688"/>
                    <a:pt x="0" y="26602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248131" y="2738199"/>
            <a:ext cx="2965542" cy="261376"/>
            <a:chOff x="0" y="0"/>
            <a:chExt cx="3954056" cy="3485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54018" cy="348488"/>
            </a:xfrm>
            <a:custGeom>
              <a:avLst/>
              <a:gdLst/>
              <a:ahLst/>
              <a:cxnLst/>
              <a:rect l="l" t="t" r="r" b="b"/>
              <a:pathLst>
                <a:path w="3954018" h="348488">
                  <a:moveTo>
                    <a:pt x="0" y="0"/>
                  </a:moveTo>
                  <a:lnTo>
                    <a:pt x="3954018" y="0"/>
                  </a:lnTo>
                  <a:lnTo>
                    <a:pt x="3954018" y="348488"/>
                  </a:lnTo>
                  <a:lnTo>
                    <a:pt x="0" y="348488"/>
                  </a:ln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456586" y="3289061"/>
            <a:ext cx="253492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MVC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84037" y="3946291"/>
            <a:ext cx="249375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Controller nhận yêu cầu</a:t>
            </a:r>
          </a:p>
        </p:txBody>
      </p:sp>
      <p:sp>
        <p:nvSpPr>
          <p:cNvPr id="18" name="AutoShape 18"/>
          <p:cNvSpPr/>
          <p:nvPr/>
        </p:nvSpPr>
        <p:spPr>
          <a:xfrm rot="266400">
            <a:off x="7186727" y="3765328"/>
            <a:ext cx="492585" cy="0"/>
          </a:xfrm>
          <a:prstGeom prst="line">
            <a:avLst/>
          </a:prstGeom>
          <a:ln w="19050" cap="rnd">
            <a:solidFill>
              <a:srgbClr val="1C64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7748445" y="2738199"/>
            <a:ext cx="2965542" cy="2267281"/>
            <a:chOff x="0" y="0"/>
            <a:chExt cx="3954056" cy="302304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54018" cy="3023041"/>
            </a:xfrm>
            <a:custGeom>
              <a:avLst/>
              <a:gdLst/>
              <a:ahLst/>
              <a:cxnLst/>
              <a:rect l="l" t="t" r="r" b="b"/>
              <a:pathLst>
                <a:path w="3954018" h="3023041">
                  <a:moveTo>
                    <a:pt x="0" y="362759"/>
                  </a:moveTo>
                  <a:cubicBezTo>
                    <a:pt x="0" y="162353"/>
                    <a:pt x="148463" y="0"/>
                    <a:pt x="331724" y="0"/>
                  </a:cubicBezTo>
                  <a:lnTo>
                    <a:pt x="3622294" y="0"/>
                  </a:lnTo>
                  <a:cubicBezTo>
                    <a:pt x="3805555" y="0"/>
                    <a:pt x="3954018" y="162353"/>
                    <a:pt x="3954018" y="362759"/>
                  </a:cubicBezTo>
                  <a:lnTo>
                    <a:pt x="3954018" y="2660282"/>
                  </a:lnTo>
                  <a:cubicBezTo>
                    <a:pt x="3954018" y="2860689"/>
                    <a:pt x="3805555" y="3023041"/>
                    <a:pt x="3622294" y="3023041"/>
                  </a:cubicBezTo>
                  <a:lnTo>
                    <a:pt x="331724" y="3023041"/>
                  </a:lnTo>
                  <a:cubicBezTo>
                    <a:pt x="148463" y="3023041"/>
                    <a:pt x="0" y="2860688"/>
                    <a:pt x="0" y="26602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748445" y="2738199"/>
            <a:ext cx="2965542" cy="261376"/>
            <a:chOff x="0" y="0"/>
            <a:chExt cx="3954056" cy="3485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54018" cy="348488"/>
            </a:xfrm>
            <a:custGeom>
              <a:avLst/>
              <a:gdLst/>
              <a:ahLst/>
              <a:cxnLst/>
              <a:rect l="l" t="t" r="r" b="b"/>
              <a:pathLst>
                <a:path w="3954018" h="348488">
                  <a:moveTo>
                    <a:pt x="0" y="0"/>
                  </a:moveTo>
                  <a:lnTo>
                    <a:pt x="3954018" y="0"/>
                  </a:lnTo>
                  <a:lnTo>
                    <a:pt x="3954018" y="348488"/>
                  </a:lnTo>
                  <a:lnTo>
                    <a:pt x="0" y="348488"/>
                  </a:lnTo>
                  <a:close/>
                </a:path>
              </a:pathLst>
            </a:custGeom>
            <a:solidFill>
              <a:srgbClr val="239B73"/>
            </a:solidFill>
            <a:ln w="14299" cap="sq">
              <a:solidFill>
                <a:srgbClr val="239B7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956899" y="3289061"/>
            <a:ext cx="253492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NGHIỆP VỤ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84350" y="3946291"/>
            <a:ext cx="249375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Kiểm tra quyền &amp; dữ liệu</a:t>
            </a:r>
          </a:p>
        </p:txBody>
      </p:sp>
      <p:sp>
        <p:nvSpPr>
          <p:cNvPr id="25" name="AutoShape 25"/>
          <p:cNvSpPr/>
          <p:nvPr/>
        </p:nvSpPr>
        <p:spPr>
          <a:xfrm rot="266400">
            <a:off x="10687040" y="3765328"/>
            <a:ext cx="492585" cy="0"/>
          </a:xfrm>
          <a:prstGeom prst="line">
            <a:avLst/>
          </a:prstGeom>
          <a:ln w="19050" cap="rnd">
            <a:solidFill>
              <a:srgbClr val="1C64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1248758" y="2738199"/>
            <a:ext cx="2965542" cy="2267281"/>
            <a:chOff x="0" y="0"/>
            <a:chExt cx="3954056" cy="30230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954018" cy="3023041"/>
            </a:xfrm>
            <a:custGeom>
              <a:avLst/>
              <a:gdLst/>
              <a:ahLst/>
              <a:cxnLst/>
              <a:rect l="l" t="t" r="r" b="b"/>
              <a:pathLst>
                <a:path w="3954018" h="3023041">
                  <a:moveTo>
                    <a:pt x="0" y="362759"/>
                  </a:moveTo>
                  <a:cubicBezTo>
                    <a:pt x="0" y="162353"/>
                    <a:pt x="148463" y="0"/>
                    <a:pt x="331724" y="0"/>
                  </a:cubicBezTo>
                  <a:lnTo>
                    <a:pt x="3622294" y="0"/>
                  </a:lnTo>
                  <a:cubicBezTo>
                    <a:pt x="3805555" y="0"/>
                    <a:pt x="3954018" y="162353"/>
                    <a:pt x="3954018" y="362759"/>
                  </a:cubicBezTo>
                  <a:lnTo>
                    <a:pt x="3954018" y="2660282"/>
                  </a:lnTo>
                  <a:cubicBezTo>
                    <a:pt x="3954018" y="2860689"/>
                    <a:pt x="3805555" y="3023041"/>
                    <a:pt x="3622294" y="3023041"/>
                  </a:cubicBezTo>
                  <a:lnTo>
                    <a:pt x="331724" y="3023041"/>
                  </a:lnTo>
                  <a:cubicBezTo>
                    <a:pt x="148463" y="3023041"/>
                    <a:pt x="0" y="2860688"/>
                    <a:pt x="0" y="26602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248758" y="2738199"/>
            <a:ext cx="2965542" cy="261376"/>
            <a:chOff x="0" y="0"/>
            <a:chExt cx="3954056" cy="34850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54018" cy="348488"/>
            </a:xfrm>
            <a:custGeom>
              <a:avLst/>
              <a:gdLst/>
              <a:ahLst/>
              <a:cxnLst/>
              <a:rect l="l" t="t" r="r" b="b"/>
              <a:pathLst>
                <a:path w="3954018" h="348488">
                  <a:moveTo>
                    <a:pt x="0" y="0"/>
                  </a:moveTo>
                  <a:lnTo>
                    <a:pt x="3954018" y="0"/>
                  </a:lnTo>
                  <a:lnTo>
                    <a:pt x="3954018" y="348488"/>
                  </a:lnTo>
                  <a:lnTo>
                    <a:pt x="0" y="348488"/>
                  </a:lnTo>
                  <a:close/>
                </a:path>
              </a:pathLst>
            </a:custGeom>
            <a:solidFill>
              <a:srgbClr val="6E68CD"/>
            </a:solidFill>
            <a:ln w="14299" cap="sq">
              <a:solidFill>
                <a:srgbClr val="6E68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457213" y="3289061"/>
            <a:ext cx="253492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EF CORE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84664" y="3946291"/>
            <a:ext cx="249375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LINQ / AppDbContext</a:t>
            </a:r>
          </a:p>
        </p:txBody>
      </p:sp>
      <p:sp>
        <p:nvSpPr>
          <p:cNvPr id="32" name="AutoShape 32"/>
          <p:cNvSpPr/>
          <p:nvPr/>
        </p:nvSpPr>
        <p:spPr>
          <a:xfrm rot="266400">
            <a:off x="14187354" y="3765328"/>
            <a:ext cx="492585" cy="0"/>
          </a:xfrm>
          <a:prstGeom prst="line">
            <a:avLst/>
          </a:prstGeom>
          <a:ln w="19050" cap="rnd">
            <a:solidFill>
              <a:srgbClr val="1C64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14749082" y="2738199"/>
            <a:ext cx="2965542" cy="2267281"/>
            <a:chOff x="0" y="0"/>
            <a:chExt cx="3954056" cy="302304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954018" cy="3023041"/>
            </a:xfrm>
            <a:custGeom>
              <a:avLst/>
              <a:gdLst/>
              <a:ahLst/>
              <a:cxnLst/>
              <a:rect l="l" t="t" r="r" b="b"/>
              <a:pathLst>
                <a:path w="3954018" h="3023041">
                  <a:moveTo>
                    <a:pt x="0" y="362759"/>
                  </a:moveTo>
                  <a:cubicBezTo>
                    <a:pt x="0" y="162353"/>
                    <a:pt x="148463" y="0"/>
                    <a:pt x="331724" y="0"/>
                  </a:cubicBezTo>
                  <a:lnTo>
                    <a:pt x="3622294" y="0"/>
                  </a:lnTo>
                  <a:cubicBezTo>
                    <a:pt x="3805555" y="0"/>
                    <a:pt x="3954018" y="162353"/>
                    <a:pt x="3954018" y="362759"/>
                  </a:cubicBezTo>
                  <a:lnTo>
                    <a:pt x="3954018" y="2660282"/>
                  </a:lnTo>
                  <a:cubicBezTo>
                    <a:pt x="3954018" y="2860689"/>
                    <a:pt x="3805555" y="3023041"/>
                    <a:pt x="3622294" y="3023041"/>
                  </a:cubicBezTo>
                  <a:lnTo>
                    <a:pt x="331724" y="3023041"/>
                  </a:lnTo>
                  <a:cubicBezTo>
                    <a:pt x="148463" y="3023041"/>
                    <a:pt x="0" y="2860688"/>
                    <a:pt x="0" y="266028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749082" y="2738199"/>
            <a:ext cx="2965542" cy="261376"/>
            <a:chOff x="0" y="0"/>
            <a:chExt cx="3954056" cy="34850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954018" cy="348488"/>
            </a:xfrm>
            <a:custGeom>
              <a:avLst/>
              <a:gdLst/>
              <a:ahLst/>
              <a:cxnLst/>
              <a:rect l="l" t="t" r="r" b="b"/>
              <a:pathLst>
                <a:path w="3954018" h="348488">
                  <a:moveTo>
                    <a:pt x="0" y="0"/>
                  </a:moveTo>
                  <a:lnTo>
                    <a:pt x="3954018" y="0"/>
                  </a:lnTo>
                  <a:lnTo>
                    <a:pt x="3954018" y="348488"/>
                  </a:lnTo>
                  <a:lnTo>
                    <a:pt x="0" y="348488"/>
                  </a:lnTo>
                  <a:close/>
                </a:path>
              </a:pathLst>
            </a:custGeom>
            <a:solidFill>
              <a:srgbClr val="F0A341"/>
            </a:solidFill>
            <a:ln w="14299" cap="sq">
              <a:solidFill>
                <a:srgbClr val="F0A3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4957527" y="3289061"/>
            <a:ext cx="253492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SQL SERVER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001006" y="3946291"/>
            <a:ext cx="246169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Lưu và truy vấn dữ liệu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587151" y="6417695"/>
            <a:ext cx="15113698" cy="830761"/>
            <a:chOff x="0" y="0"/>
            <a:chExt cx="20151598" cy="110768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0151598" cy="1107694"/>
            </a:xfrm>
            <a:custGeom>
              <a:avLst/>
              <a:gdLst/>
              <a:ahLst/>
              <a:cxnLst/>
              <a:rect l="l" t="t" r="r" b="b"/>
              <a:pathLst>
                <a:path w="20151598" h="1107694">
                  <a:moveTo>
                    <a:pt x="0" y="132934"/>
                  </a:moveTo>
                  <a:cubicBezTo>
                    <a:pt x="0" y="59509"/>
                    <a:pt x="104267" y="0"/>
                    <a:pt x="232918" y="0"/>
                  </a:cubicBezTo>
                  <a:lnTo>
                    <a:pt x="19918680" y="0"/>
                  </a:lnTo>
                  <a:cubicBezTo>
                    <a:pt x="20047331" y="0"/>
                    <a:pt x="20151598" y="59509"/>
                    <a:pt x="20151598" y="132934"/>
                  </a:cubicBezTo>
                  <a:lnTo>
                    <a:pt x="20151598" y="974754"/>
                  </a:lnTo>
                  <a:cubicBezTo>
                    <a:pt x="20151598" y="1048180"/>
                    <a:pt x="20047331" y="1107694"/>
                    <a:pt x="19918680" y="1107694"/>
                  </a:cubicBezTo>
                  <a:lnTo>
                    <a:pt x="232918" y="1107694"/>
                  </a:lnTo>
                  <a:cubicBezTo>
                    <a:pt x="104267" y="1107694"/>
                    <a:pt x="0" y="1048180"/>
                    <a:pt x="0" y="974754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2111311" y="6656863"/>
            <a:ext cx="1406537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Các thao tác nhiều bảng dùng database transaction để rollback khi phát sinh lỗi.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52419" y="7502264"/>
            <a:ext cx="147517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E7188"/>
                </a:solidFill>
                <a:latin typeface="Aptos"/>
                <a:ea typeface="Aptos"/>
                <a:cs typeface="Aptos"/>
                <a:sym typeface="Aptos"/>
              </a:rPr>
              <a:t>Tài nguyên giao diện (CSS, JavaScript, font, icon) được phục vụ từ thư mục wwwroot.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4978" y="742655"/>
            <a:ext cx="161243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HẠN CHẾ HIỆN TẠI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554185"/>
            <a:ext cx="1002621" cy="89792"/>
            <a:chOff x="0" y="0"/>
            <a:chExt cx="1336827" cy="1197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802" cy="119761"/>
            </a:xfrm>
            <a:custGeom>
              <a:avLst/>
              <a:gdLst/>
              <a:ahLst/>
              <a:cxnLst/>
              <a:rect l="l" t="t" r="r" b="b"/>
              <a:pathLst>
                <a:path w="1336802" h="119761">
                  <a:moveTo>
                    <a:pt x="0" y="0"/>
                  </a:moveTo>
                  <a:lnTo>
                    <a:pt x="1336802" y="0"/>
                  </a:lnTo>
                  <a:lnTo>
                    <a:pt x="1336802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2837" y="2185106"/>
            <a:ext cx="7632630" cy="1844383"/>
            <a:chOff x="0" y="0"/>
            <a:chExt cx="10176840" cy="24591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76764" cy="2459093"/>
            </a:xfrm>
            <a:custGeom>
              <a:avLst/>
              <a:gdLst/>
              <a:ahLst/>
              <a:cxnLst/>
              <a:rect l="l" t="t" r="r" b="b"/>
              <a:pathLst>
                <a:path w="10176764" h="2459093">
                  <a:moveTo>
                    <a:pt x="0" y="295069"/>
                  </a:moveTo>
                  <a:cubicBezTo>
                    <a:pt x="0" y="132097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2097"/>
                    <a:pt x="10176764" y="295069"/>
                  </a:cubicBezTo>
                  <a:lnTo>
                    <a:pt x="10176764" y="2164024"/>
                  </a:lnTo>
                  <a:cubicBezTo>
                    <a:pt x="10176764" y="2326996"/>
                    <a:pt x="10057765" y="2459093"/>
                    <a:pt x="9910953" y="2459093"/>
                  </a:cubicBezTo>
                  <a:lnTo>
                    <a:pt x="265811" y="2459093"/>
                  </a:lnTo>
                  <a:cubicBezTo>
                    <a:pt x="118999" y="2459228"/>
                    <a:pt x="0" y="2326996"/>
                    <a:pt x="0" y="216402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72837" y="2185106"/>
            <a:ext cx="110385" cy="1844383"/>
            <a:chOff x="0" y="0"/>
            <a:chExt cx="147180" cy="24591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7193" cy="2459228"/>
            </a:xfrm>
            <a:custGeom>
              <a:avLst/>
              <a:gdLst/>
              <a:ahLst/>
              <a:cxnLst/>
              <a:rect l="l" t="t" r="r" b="b"/>
              <a:pathLst>
                <a:path w="147193" h="2459228">
                  <a:moveTo>
                    <a:pt x="0" y="0"/>
                  </a:moveTo>
                  <a:lnTo>
                    <a:pt x="147193" y="0"/>
                  </a:lnTo>
                  <a:lnTo>
                    <a:pt x="147193" y="2459228"/>
                  </a:lnTo>
                  <a:lnTo>
                    <a:pt x="0" y="2459228"/>
                  </a:lnTo>
                  <a:close/>
                </a:path>
              </a:pathLst>
            </a:custGeom>
            <a:solidFill>
              <a:srgbClr val="F0A341"/>
            </a:solidFill>
            <a:ln w="14299" cap="sq">
              <a:solidFill>
                <a:srgbClr val="F0A3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91096" y="2462189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Tích hợp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1096" y="3089410"/>
            <a:ext cx="70235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Dữ liệu nhập thủ công; chưa kết nối ngân hàng hoặc ví điện tử.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08876" y="2185106"/>
            <a:ext cx="7632630" cy="1844383"/>
            <a:chOff x="0" y="0"/>
            <a:chExt cx="10176840" cy="24591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76764" cy="2459093"/>
            </a:xfrm>
            <a:custGeom>
              <a:avLst/>
              <a:gdLst/>
              <a:ahLst/>
              <a:cxnLst/>
              <a:rect l="l" t="t" r="r" b="b"/>
              <a:pathLst>
                <a:path w="10176764" h="2459093">
                  <a:moveTo>
                    <a:pt x="0" y="295069"/>
                  </a:moveTo>
                  <a:cubicBezTo>
                    <a:pt x="0" y="132097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2097"/>
                    <a:pt x="10176764" y="295069"/>
                  </a:cubicBezTo>
                  <a:lnTo>
                    <a:pt x="10176764" y="2164024"/>
                  </a:lnTo>
                  <a:cubicBezTo>
                    <a:pt x="10176764" y="2326996"/>
                    <a:pt x="10057765" y="2459093"/>
                    <a:pt x="9910953" y="2459093"/>
                  </a:cubicBezTo>
                  <a:lnTo>
                    <a:pt x="265811" y="2459093"/>
                  </a:lnTo>
                  <a:cubicBezTo>
                    <a:pt x="118999" y="2459228"/>
                    <a:pt x="0" y="2326996"/>
                    <a:pt x="0" y="216402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08876" y="2185106"/>
            <a:ext cx="110385" cy="1844383"/>
            <a:chOff x="0" y="0"/>
            <a:chExt cx="147180" cy="245917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7193" cy="2459228"/>
            </a:xfrm>
            <a:custGeom>
              <a:avLst/>
              <a:gdLst/>
              <a:ahLst/>
              <a:cxnLst/>
              <a:rect l="l" t="t" r="r" b="b"/>
              <a:pathLst>
                <a:path w="147193" h="2459228">
                  <a:moveTo>
                    <a:pt x="0" y="0"/>
                  </a:moveTo>
                  <a:lnTo>
                    <a:pt x="147193" y="0"/>
                  </a:lnTo>
                  <a:lnTo>
                    <a:pt x="147193" y="2459228"/>
                  </a:lnTo>
                  <a:lnTo>
                    <a:pt x="0" y="2459228"/>
                  </a:lnTo>
                  <a:close/>
                </a:path>
              </a:pathLst>
            </a:custGeom>
            <a:solidFill>
              <a:srgbClr val="D8575C"/>
            </a:solidFill>
            <a:ln w="14299" cap="sq">
              <a:solidFill>
                <a:srgbClr val="D8575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727135" y="2462189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Nghiệp vụ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27135" y="3089410"/>
            <a:ext cx="70235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Chưa kiểm tra số dư đủ trước khi chi hoặc chuyển khoản.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72837" y="4312749"/>
            <a:ext cx="7632630" cy="1844383"/>
            <a:chOff x="0" y="0"/>
            <a:chExt cx="10176840" cy="24591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76764" cy="2459093"/>
            </a:xfrm>
            <a:custGeom>
              <a:avLst/>
              <a:gdLst/>
              <a:ahLst/>
              <a:cxnLst/>
              <a:rect l="l" t="t" r="r" b="b"/>
              <a:pathLst>
                <a:path w="10176764" h="2459093">
                  <a:moveTo>
                    <a:pt x="0" y="295069"/>
                  </a:moveTo>
                  <a:cubicBezTo>
                    <a:pt x="0" y="132097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2097"/>
                    <a:pt x="10176764" y="295069"/>
                  </a:cubicBezTo>
                  <a:lnTo>
                    <a:pt x="10176764" y="2164024"/>
                  </a:lnTo>
                  <a:cubicBezTo>
                    <a:pt x="10176764" y="2326996"/>
                    <a:pt x="10057765" y="2459093"/>
                    <a:pt x="9910953" y="2459093"/>
                  </a:cubicBezTo>
                  <a:lnTo>
                    <a:pt x="265811" y="2459093"/>
                  </a:lnTo>
                  <a:cubicBezTo>
                    <a:pt x="118999" y="2459228"/>
                    <a:pt x="0" y="2326996"/>
                    <a:pt x="0" y="216402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72837" y="4312744"/>
            <a:ext cx="110385" cy="1844388"/>
            <a:chOff x="0" y="0"/>
            <a:chExt cx="147180" cy="24591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7193" cy="2459234"/>
            </a:xfrm>
            <a:custGeom>
              <a:avLst/>
              <a:gdLst/>
              <a:ahLst/>
              <a:cxnLst/>
              <a:rect l="l" t="t" r="r" b="b"/>
              <a:pathLst>
                <a:path w="147193" h="2459234">
                  <a:moveTo>
                    <a:pt x="0" y="0"/>
                  </a:moveTo>
                  <a:lnTo>
                    <a:pt x="147193" y="0"/>
                  </a:lnTo>
                  <a:lnTo>
                    <a:pt x="147193" y="2459234"/>
                  </a:lnTo>
                  <a:lnTo>
                    <a:pt x="0" y="2459234"/>
                  </a:lnTo>
                  <a:close/>
                </a:path>
              </a:pathLst>
            </a:custGeom>
            <a:solidFill>
              <a:srgbClr val="6E68CD"/>
            </a:solidFill>
            <a:ln w="14299" cap="sq">
              <a:solidFill>
                <a:srgbClr val="6E68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91096" y="4589826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Ngân sách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91096" y="5217057"/>
            <a:ext cx="70235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Chưa tự tổng hợp chi tiêu danh mục con vào danh mục cha.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08876" y="4312744"/>
            <a:ext cx="7632630" cy="1844388"/>
            <a:chOff x="0" y="0"/>
            <a:chExt cx="10176840" cy="24591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76764" cy="2459099"/>
            </a:xfrm>
            <a:custGeom>
              <a:avLst/>
              <a:gdLst/>
              <a:ahLst/>
              <a:cxnLst/>
              <a:rect l="l" t="t" r="r" b="b"/>
              <a:pathLst>
                <a:path w="10176764" h="2459099">
                  <a:moveTo>
                    <a:pt x="0" y="295069"/>
                  </a:moveTo>
                  <a:cubicBezTo>
                    <a:pt x="0" y="132097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2097"/>
                    <a:pt x="10176764" y="295069"/>
                  </a:cubicBezTo>
                  <a:lnTo>
                    <a:pt x="10176764" y="2164030"/>
                  </a:lnTo>
                  <a:cubicBezTo>
                    <a:pt x="10176764" y="2327002"/>
                    <a:pt x="10057765" y="2459099"/>
                    <a:pt x="9910953" y="2459099"/>
                  </a:cubicBezTo>
                  <a:lnTo>
                    <a:pt x="265811" y="2459099"/>
                  </a:lnTo>
                  <a:cubicBezTo>
                    <a:pt x="118999" y="2459234"/>
                    <a:pt x="0" y="2327002"/>
                    <a:pt x="0" y="216403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08876" y="4312744"/>
            <a:ext cx="110385" cy="1844388"/>
            <a:chOff x="0" y="0"/>
            <a:chExt cx="147180" cy="24591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7193" cy="2459234"/>
            </a:xfrm>
            <a:custGeom>
              <a:avLst/>
              <a:gdLst/>
              <a:ahLst/>
              <a:cxnLst/>
              <a:rect l="l" t="t" r="r" b="b"/>
              <a:pathLst>
                <a:path w="147193" h="2459234">
                  <a:moveTo>
                    <a:pt x="0" y="0"/>
                  </a:moveTo>
                  <a:lnTo>
                    <a:pt x="147193" y="0"/>
                  </a:lnTo>
                  <a:lnTo>
                    <a:pt x="147193" y="2459234"/>
                  </a:lnTo>
                  <a:lnTo>
                    <a:pt x="0" y="2459234"/>
                  </a:ln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727135" y="4589826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Bảo mật tài khoản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27135" y="5217057"/>
            <a:ext cx="70235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Khôi phục mật khẩu chưa xác minh quyền sở hữu email; chưa có 2FA.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172837" y="6442881"/>
            <a:ext cx="7632630" cy="1844383"/>
            <a:chOff x="0" y="0"/>
            <a:chExt cx="10176840" cy="245917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76764" cy="2459093"/>
            </a:xfrm>
            <a:custGeom>
              <a:avLst/>
              <a:gdLst/>
              <a:ahLst/>
              <a:cxnLst/>
              <a:rect l="l" t="t" r="r" b="b"/>
              <a:pathLst>
                <a:path w="10176764" h="2459093">
                  <a:moveTo>
                    <a:pt x="0" y="295069"/>
                  </a:moveTo>
                  <a:cubicBezTo>
                    <a:pt x="0" y="132097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2097"/>
                    <a:pt x="10176764" y="295069"/>
                  </a:cubicBezTo>
                  <a:lnTo>
                    <a:pt x="10176764" y="2164024"/>
                  </a:lnTo>
                  <a:cubicBezTo>
                    <a:pt x="10176764" y="2326996"/>
                    <a:pt x="10057765" y="2459093"/>
                    <a:pt x="9910953" y="2459093"/>
                  </a:cubicBezTo>
                  <a:lnTo>
                    <a:pt x="265811" y="2459093"/>
                  </a:lnTo>
                  <a:cubicBezTo>
                    <a:pt x="118999" y="2459228"/>
                    <a:pt x="0" y="2326996"/>
                    <a:pt x="0" y="216402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72837" y="6442881"/>
            <a:ext cx="110385" cy="1844383"/>
            <a:chOff x="0" y="0"/>
            <a:chExt cx="147180" cy="245917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7193" cy="2459228"/>
            </a:xfrm>
            <a:custGeom>
              <a:avLst/>
              <a:gdLst/>
              <a:ahLst/>
              <a:cxnLst/>
              <a:rect l="l" t="t" r="r" b="b"/>
              <a:pathLst>
                <a:path w="147193" h="2459228">
                  <a:moveTo>
                    <a:pt x="0" y="0"/>
                  </a:moveTo>
                  <a:lnTo>
                    <a:pt x="147193" y="0"/>
                  </a:lnTo>
                  <a:lnTo>
                    <a:pt x="147193" y="2459228"/>
                  </a:lnTo>
                  <a:lnTo>
                    <a:pt x="0" y="2459228"/>
                  </a:ln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91096" y="6717473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Báo cáo &amp; kiểm thử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91096" y="7344694"/>
            <a:ext cx="70235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Chưa có cảnh báo riêng cho khoảng ngày đảo ngược; cần thêm kiểm thử tự động.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408876" y="6440391"/>
            <a:ext cx="7632630" cy="1846874"/>
            <a:chOff x="0" y="0"/>
            <a:chExt cx="10176840" cy="24624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76764" cy="2462414"/>
            </a:xfrm>
            <a:custGeom>
              <a:avLst/>
              <a:gdLst/>
              <a:ahLst/>
              <a:cxnLst/>
              <a:rect l="l" t="t" r="r" b="b"/>
              <a:pathLst>
                <a:path w="10176764" h="2462414">
                  <a:moveTo>
                    <a:pt x="0" y="295467"/>
                  </a:moveTo>
                  <a:cubicBezTo>
                    <a:pt x="0" y="132276"/>
                    <a:pt x="118999" y="0"/>
                    <a:pt x="265811" y="0"/>
                  </a:cubicBezTo>
                  <a:lnTo>
                    <a:pt x="9910953" y="0"/>
                  </a:lnTo>
                  <a:cubicBezTo>
                    <a:pt x="10057765" y="0"/>
                    <a:pt x="10176764" y="132276"/>
                    <a:pt x="10176764" y="295467"/>
                  </a:cubicBezTo>
                  <a:lnTo>
                    <a:pt x="10176764" y="2166947"/>
                  </a:lnTo>
                  <a:cubicBezTo>
                    <a:pt x="10176764" y="2330138"/>
                    <a:pt x="10057765" y="2462414"/>
                    <a:pt x="9910953" y="2462414"/>
                  </a:cubicBezTo>
                  <a:lnTo>
                    <a:pt x="265811" y="2462414"/>
                  </a:lnTo>
                  <a:cubicBezTo>
                    <a:pt x="118999" y="2462549"/>
                    <a:pt x="0" y="2330138"/>
                    <a:pt x="0" y="216694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F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08876" y="6440391"/>
            <a:ext cx="110385" cy="1846874"/>
            <a:chOff x="0" y="0"/>
            <a:chExt cx="147180" cy="246249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7193" cy="2462549"/>
            </a:xfrm>
            <a:custGeom>
              <a:avLst/>
              <a:gdLst/>
              <a:ahLst/>
              <a:cxnLst/>
              <a:rect l="l" t="t" r="r" b="b"/>
              <a:pathLst>
                <a:path w="147193" h="2462549">
                  <a:moveTo>
                    <a:pt x="0" y="0"/>
                  </a:moveTo>
                  <a:lnTo>
                    <a:pt x="147193" y="0"/>
                  </a:lnTo>
                  <a:lnTo>
                    <a:pt x="147193" y="2462549"/>
                  </a:lnTo>
                  <a:lnTo>
                    <a:pt x="0" y="2462549"/>
                  </a:lnTo>
                  <a:close/>
                </a:path>
              </a:pathLst>
            </a:custGeom>
            <a:solidFill>
              <a:srgbClr val="239B73"/>
            </a:solidFill>
            <a:ln w="14299" cap="sq">
              <a:solidFill>
                <a:srgbClr val="239B7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727135" y="6717473"/>
            <a:ext cx="706474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Tính năng mở rộng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27135" y="7344694"/>
            <a:ext cx="70235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Chưa hỗ trợ giao dịch định kỳ, hóa đơn, xuất Excel/PDF, API và app di động.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6202819" y="9319601"/>
            <a:ext cx="179022" cy="179022"/>
            <a:chOff x="0" y="0"/>
            <a:chExt cx="238697" cy="23869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477358" y="9319601"/>
            <a:ext cx="179022" cy="179022"/>
            <a:chOff x="0" y="0"/>
            <a:chExt cx="238697" cy="23869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1C64BE"/>
            </a:solidFill>
            <a:ln w="14299" cap="sq">
              <a:solidFill>
                <a:srgbClr val="1C64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751888" y="9319601"/>
            <a:ext cx="179022" cy="179022"/>
            <a:chOff x="0" y="0"/>
            <a:chExt cx="238697" cy="23869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8760" cy="238760"/>
            </a:xfrm>
            <a:custGeom>
              <a:avLst/>
              <a:gdLst/>
              <a:ahLst/>
              <a:cxnLst/>
              <a:rect l="l" t="t" r="r" b="b"/>
              <a:pathLst>
                <a:path w="238760" h="238760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cubicBezTo>
                    <a:pt x="185293" y="0"/>
                    <a:pt x="238760" y="53467"/>
                    <a:pt x="238760" y="119380"/>
                  </a:cubicBezTo>
                  <a:cubicBezTo>
                    <a:pt x="238760" y="185293"/>
                    <a:pt x="185293" y="238760"/>
                    <a:pt x="119380" y="238760"/>
                  </a:cubicBezTo>
                  <a:cubicBezTo>
                    <a:pt x="53467" y="238760"/>
                    <a:pt x="0" y="185293"/>
                    <a:pt x="0" y="119380"/>
                  </a:cubicBezTo>
                  <a:close/>
                </a:path>
              </a:pathLst>
            </a:custGeom>
            <a:solidFill>
              <a:srgbClr val="EBF5FD"/>
            </a:solidFill>
            <a:ln w="14299" cap="sq">
              <a:solidFill>
                <a:srgbClr val="EBF5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1253" y="743922"/>
            <a:ext cx="75743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KẾT LUẬN &amp; HƯỚNG PHÁT TRIỂN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555452"/>
            <a:ext cx="1181071" cy="96660"/>
            <a:chOff x="0" y="0"/>
            <a:chExt cx="1574762" cy="1288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74800" cy="128905"/>
            </a:xfrm>
            <a:custGeom>
              <a:avLst/>
              <a:gdLst/>
              <a:ahLst/>
              <a:cxnLst/>
              <a:rect l="l" t="t" r="r" b="b"/>
              <a:pathLst>
                <a:path w="1574800" h="128905">
                  <a:moveTo>
                    <a:pt x="0" y="0"/>
                  </a:moveTo>
                  <a:lnTo>
                    <a:pt x="1574800" y="0"/>
                  </a:lnTo>
                  <a:lnTo>
                    <a:pt x="1574800" y="128905"/>
                  </a:lnTo>
                  <a:lnTo>
                    <a:pt x="0" y="128905"/>
                  </a:lnTo>
                  <a:close/>
                </a:path>
              </a:pathLst>
            </a:custGeom>
            <a:solidFill>
              <a:srgbClr val="49B0DC"/>
            </a:solidFill>
            <a:ln w="14299" cap="sq">
              <a:solidFill>
                <a:srgbClr val="49B0D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62243" y="7758542"/>
            <a:ext cx="1516351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Cảm ơn thầy và các bạn đã lắng nghe!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81474" y="2859755"/>
            <a:ext cx="7495365" cy="3901085"/>
            <a:chOff x="0" y="0"/>
            <a:chExt cx="9993820" cy="520144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993820" cy="5201447"/>
              <a:chOff x="0" y="0"/>
              <a:chExt cx="9993820" cy="520144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993859" cy="5201447"/>
              </a:xfrm>
              <a:custGeom>
                <a:avLst/>
                <a:gdLst/>
                <a:ahLst/>
                <a:cxnLst/>
                <a:rect l="l" t="t" r="r" b="b"/>
                <a:pathLst>
                  <a:path w="9993859" h="5201447">
                    <a:moveTo>
                      <a:pt x="0" y="624177"/>
                    </a:moveTo>
                    <a:cubicBezTo>
                      <a:pt x="0" y="279447"/>
                      <a:pt x="446804" y="0"/>
                      <a:pt x="997989" y="0"/>
                    </a:cubicBezTo>
                    <a:lnTo>
                      <a:pt x="8995869" y="0"/>
                    </a:lnTo>
                    <a:cubicBezTo>
                      <a:pt x="9547054" y="0"/>
                      <a:pt x="9993859" y="279447"/>
                      <a:pt x="9993859" y="624177"/>
                    </a:cubicBezTo>
                    <a:lnTo>
                      <a:pt x="9993859" y="4577270"/>
                    </a:lnTo>
                    <a:cubicBezTo>
                      <a:pt x="9993859" y="4922000"/>
                      <a:pt x="9547054" y="5201447"/>
                      <a:pt x="8995869" y="5201447"/>
                    </a:cubicBezTo>
                    <a:lnTo>
                      <a:pt x="997989" y="5201447"/>
                    </a:lnTo>
                    <a:cubicBezTo>
                      <a:pt x="446804" y="5201447"/>
                      <a:pt x="0" y="4922000"/>
                      <a:pt x="0" y="45772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1070297" cy="5201447"/>
              <a:chOff x="0" y="0"/>
              <a:chExt cx="211417" cy="102744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11417" cy="1027446"/>
              </a:xfrm>
              <a:custGeom>
                <a:avLst/>
                <a:gdLst/>
                <a:ahLst/>
                <a:cxnLst/>
                <a:rect l="l" t="t" r="r" b="b"/>
                <a:pathLst>
                  <a:path w="211417" h="1027446">
                    <a:moveTo>
                      <a:pt x="0" y="0"/>
                    </a:moveTo>
                    <a:lnTo>
                      <a:pt x="211417" y="0"/>
                    </a:lnTo>
                    <a:lnTo>
                      <a:pt x="211417" y="1027446"/>
                    </a:lnTo>
                    <a:lnTo>
                      <a:pt x="0" y="1027446"/>
                    </a:ln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211417" cy="1017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147180" cy="5195503"/>
              <a:chOff x="0" y="0"/>
              <a:chExt cx="147180" cy="519550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7193" cy="5195503"/>
              </a:xfrm>
              <a:custGeom>
                <a:avLst/>
                <a:gdLst/>
                <a:ahLst/>
                <a:cxnLst/>
                <a:rect l="l" t="t" r="r" b="b"/>
                <a:pathLst>
                  <a:path w="147193" h="5195503">
                    <a:moveTo>
                      <a:pt x="0" y="0"/>
                    </a:moveTo>
                    <a:lnTo>
                      <a:pt x="147193" y="0"/>
                    </a:lnTo>
                    <a:lnTo>
                      <a:pt x="147193" y="5195503"/>
                    </a:lnTo>
                    <a:lnTo>
                      <a:pt x="0" y="5195503"/>
                    </a:lnTo>
                    <a:close/>
                  </a:path>
                </a:pathLst>
              </a:custGeom>
              <a:solidFill>
                <a:srgbClr val="49B0DC"/>
              </a:solidFill>
              <a:ln w="14299" cap="sq">
                <a:solidFill>
                  <a:srgbClr val="49B0D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05329" y="20320"/>
              <a:ext cx="457200" cy="5155727"/>
              <a:chOff x="0" y="0"/>
              <a:chExt cx="90311" cy="101841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0311" cy="1018415"/>
              </a:xfrm>
              <a:custGeom>
                <a:avLst/>
                <a:gdLst/>
                <a:ahLst/>
                <a:cxnLst/>
                <a:rect l="l" t="t" r="r" b="b"/>
                <a:pathLst>
                  <a:path w="90311" h="1018415">
                    <a:moveTo>
                      <a:pt x="0" y="0"/>
                    </a:moveTo>
                    <a:lnTo>
                      <a:pt x="90311" y="0"/>
                    </a:lnTo>
                    <a:lnTo>
                      <a:pt x="90311" y="1018415"/>
                    </a:lnTo>
                    <a:lnTo>
                      <a:pt x="0" y="10184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9525"/>
                <a:ext cx="90311" cy="10088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9511160" y="2859755"/>
            <a:ext cx="7495365" cy="3901085"/>
            <a:chOff x="0" y="0"/>
            <a:chExt cx="9993820" cy="5201447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9993820" cy="5201447"/>
              <a:chOff x="0" y="0"/>
              <a:chExt cx="9993820" cy="520144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993859" cy="5201447"/>
              </a:xfrm>
              <a:custGeom>
                <a:avLst/>
                <a:gdLst/>
                <a:ahLst/>
                <a:cxnLst/>
                <a:rect l="l" t="t" r="r" b="b"/>
                <a:pathLst>
                  <a:path w="9993859" h="5201447">
                    <a:moveTo>
                      <a:pt x="0" y="624177"/>
                    </a:moveTo>
                    <a:cubicBezTo>
                      <a:pt x="0" y="279447"/>
                      <a:pt x="446804" y="0"/>
                      <a:pt x="997989" y="0"/>
                    </a:cubicBezTo>
                    <a:lnTo>
                      <a:pt x="8995869" y="0"/>
                    </a:lnTo>
                    <a:cubicBezTo>
                      <a:pt x="9547054" y="0"/>
                      <a:pt x="9993859" y="279447"/>
                      <a:pt x="9993859" y="624177"/>
                    </a:cubicBezTo>
                    <a:lnTo>
                      <a:pt x="9993859" y="4577270"/>
                    </a:lnTo>
                    <a:cubicBezTo>
                      <a:pt x="9993859" y="4922000"/>
                      <a:pt x="9547054" y="5201447"/>
                      <a:pt x="8995869" y="5201447"/>
                    </a:cubicBezTo>
                    <a:lnTo>
                      <a:pt x="997989" y="5201447"/>
                    </a:lnTo>
                    <a:cubicBezTo>
                      <a:pt x="446804" y="5201447"/>
                      <a:pt x="0" y="4922000"/>
                      <a:pt x="0" y="45772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1070297" cy="5201447"/>
              <a:chOff x="0" y="0"/>
              <a:chExt cx="211417" cy="102744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11417" cy="1027446"/>
              </a:xfrm>
              <a:custGeom>
                <a:avLst/>
                <a:gdLst/>
                <a:ahLst/>
                <a:cxnLst/>
                <a:rect l="l" t="t" r="r" b="b"/>
                <a:pathLst>
                  <a:path w="211417" h="1027446">
                    <a:moveTo>
                      <a:pt x="0" y="0"/>
                    </a:moveTo>
                    <a:lnTo>
                      <a:pt x="211417" y="0"/>
                    </a:lnTo>
                    <a:lnTo>
                      <a:pt x="211417" y="1027446"/>
                    </a:lnTo>
                    <a:lnTo>
                      <a:pt x="0" y="1027446"/>
                    </a:lnTo>
                    <a:close/>
                  </a:path>
                </a:pathLst>
              </a:custGeom>
              <a:solidFill>
                <a:srgbClr val="FFFFFF"/>
              </a:solidFill>
              <a:ln w="14299" cap="sq">
                <a:solidFill>
                  <a:srgbClr val="D7E4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9525"/>
                <a:ext cx="211417" cy="1017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0"/>
              <a:ext cx="147180" cy="5195503"/>
              <a:chOff x="0" y="0"/>
              <a:chExt cx="147180" cy="519550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47193" cy="5195503"/>
              </a:xfrm>
              <a:custGeom>
                <a:avLst/>
                <a:gdLst/>
                <a:ahLst/>
                <a:cxnLst/>
                <a:rect l="l" t="t" r="r" b="b"/>
                <a:pathLst>
                  <a:path w="147193" h="5195503">
                    <a:moveTo>
                      <a:pt x="0" y="0"/>
                    </a:moveTo>
                    <a:lnTo>
                      <a:pt x="147193" y="0"/>
                    </a:lnTo>
                    <a:lnTo>
                      <a:pt x="147193" y="5195503"/>
                    </a:lnTo>
                    <a:lnTo>
                      <a:pt x="0" y="5195503"/>
                    </a:lnTo>
                    <a:close/>
                  </a:path>
                </a:pathLst>
              </a:custGeom>
              <a:solidFill>
                <a:srgbClr val="1C64BE"/>
              </a:solidFill>
              <a:ln w="14299" cap="sq">
                <a:solidFill>
                  <a:srgbClr val="1C64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05329" y="20320"/>
              <a:ext cx="457200" cy="5155727"/>
              <a:chOff x="0" y="0"/>
              <a:chExt cx="90311" cy="101841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90311" cy="1018415"/>
              </a:xfrm>
              <a:custGeom>
                <a:avLst/>
                <a:gdLst/>
                <a:ahLst/>
                <a:cxnLst/>
                <a:rect l="l" t="t" r="r" b="b"/>
                <a:pathLst>
                  <a:path w="90311" h="1018415">
                    <a:moveTo>
                      <a:pt x="0" y="0"/>
                    </a:moveTo>
                    <a:lnTo>
                      <a:pt x="90311" y="0"/>
                    </a:lnTo>
                    <a:lnTo>
                      <a:pt x="90311" y="1018415"/>
                    </a:lnTo>
                    <a:lnTo>
                      <a:pt x="0" y="10184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9525"/>
                <a:ext cx="90311" cy="10088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99"/>
                  </a:lnSpc>
                </a:pPr>
                <a:endParaRPr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9912522" y="3981791"/>
            <a:ext cx="6886299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Hoàn thiện kiểm tra khoảng ngày và quy tắc số dư.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Bổ sung xuất Excel/PDF, giao dịch định kỳ, hóa đơn, mục tiêu tiết kiệm.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Xác minh email, xác thực hai lớp; cân nhắc API và ứng dụng di động.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78691" y="3981791"/>
            <a:ext cx="6886299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Website được hiện thực bằng ASP.NET Core MVC trên .NET 10.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Quản lý tài khoản, ví, danh mục, giao dịch, ngân sách và báo cáo.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348"/>
                </a:solidFill>
                <a:latin typeface="Aptos"/>
                <a:ea typeface="Aptos"/>
                <a:cs typeface="Aptos"/>
                <a:sym typeface="Aptos"/>
              </a:rPr>
              <a:t>• Dữ liệu được lưu bằng SQL Server; áp dụng kiểm tra quyền và bảo mật mật khẩu.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12522" y="3229893"/>
            <a:ext cx="458307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ĐỊNH HƯỚNG PHÁT TRIỂN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78691" y="3229893"/>
            <a:ext cx="351258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A4D"/>
                </a:solidFill>
                <a:latin typeface="Aptos Bold"/>
                <a:ea typeface="Aptos Bold"/>
                <a:cs typeface="Aptos Bold"/>
                <a:sym typeface="Aptos Bold"/>
              </a:rPr>
              <a:t>KẾT QUẢ ĐẠT ĐƯỢC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1773</Words>
  <Application>Microsoft Office PowerPoint</Application>
  <PresentationFormat>Custom</PresentationFormat>
  <Paragraphs>255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Noto Sans</vt:lpstr>
      <vt:lpstr>Calibri</vt:lpstr>
      <vt:lpstr>Aptos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Huỳnh Thanh Phong - MSSV: 170125200</dc:title>
  <cp:lastModifiedBy>Tan Dat</cp:lastModifiedBy>
  <cp:revision>15</cp:revision>
  <dcterms:created xsi:type="dcterms:W3CDTF">2006-08-16T00:00:00Z</dcterms:created>
  <dcterms:modified xsi:type="dcterms:W3CDTF">2026-10-25T16:27:39Z</dcterms:modified>
  <dc:identifier>DAHYyvLphJE</dc:identifier>
</cp:coreProperties>
</file>